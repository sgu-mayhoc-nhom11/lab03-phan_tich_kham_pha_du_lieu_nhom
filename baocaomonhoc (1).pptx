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2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98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84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ường – Khoa"/>
          <p:cNvSpPr txBox="1"/>
          <p:nvPr/>
        </p:nvSpPr>
        <p:spPr>
          <a:xfrm>
            <a:off x="2011680" y="457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TRƯỜNG ĐẠI HỌC SÀI GÒN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b="1" kern="0" spc="30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KHOA CÔNG NGHỆ THÔNG TIN</a:t>
            </a:r>
            <a:endParaRPr lang="en-US" sz="2000" dirty="0"/>
          </a:p>
        </p:txBody>
      </p:sp>
      <p:pic>
        <p:nvPicPr>
          <p:cNvPr id="3" name="Khung tiêu đề chính" descr="/tmp/deck/assets/title_frame_main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8" y="1188720"/>
            <a:ext cx="11247120" cy="2381855"/>
          </a:xfrm>
          <a:prstGeom prst="rect">
            <a:avLst/>
          </a:prstGeom>
        </p:spPr>
      </p:pic>
      <p:sp>
        <p:nvSpPr>
          <p:cNvPr id="4" name="Tiêu đề"/>
          <p:cNvSpPr txBox="1"/>
          <p:nvPr/>
        </p:nvSpPr>
        <p:spPr>
          <a:xfrm>
            <a:off x="2176948" y="1468413"/>
            <a:ext cx="7807623" cy="2255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5200" dirty="0">
                <a:gradFill rotWithShape="1">
                  <a:gsLst>
                    <a:gs pos="0">
                      <a:srgbClr val="7CF3FF"/>
                    </a:gs>
                    <a:gs pos="45000">
                      <a:srgbClr val="FFFFFF"/>
                    </a:gs>
                    <a:gs pos="100000">
                      <a:srgbClr val="3D8BFF"/>
                    </a:gs>
                  </a:gsLst>
                  <a:lin ang="2700000" scaled="0"/>
                </a:gradFill>
                <a:effectLst>
                  <a:glow rad="76200">
                    <a:srgbClr val="35D6FF">
                      <a:alpha val="35000"/>
                    </a:srgbClr>
                  </a:glow>
                </a:effectLst>
                <a:latin typeface="Anton" pitchFamily="34" charset="0"/>
                <a:ea typeface="Anton" pitchFamily="34" charset="-122"/>
                <a:cs typeface="Anton" pitchFamily="34" charset="-120"/>
              </a:rPr>
              <a:t>LAB03.</a:t>
            </a:r>
            <a:endParaRPr lang="en-US" sz="5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5200" dirty="0">
                <a:gradFill rotWithShape="1">
                  <a:gsLst>
                    <a:gs pos="0">
                      <a:srgbClr val="7CF3FF"/>
                    </a:gs>
                    <a:gs pos="45000">
                      <a:srgbClr val="FFFFFF"/>
                    </a:gs>
                    <a:gs pos="100000">
                      <a:srgbClr val="3D8BFF"/>
                    </a:gs>
                  </a:gsLst>
                  <a:lin ang="2700000" scaled="0"/>
                </a:gradFill>
                <a:effectLst>
                  <a:glow rad="76200">
                    <a:srgbClr val="35D6FF">
                      <a:alpha val="35000"/>
                    </a:srgbClr>
                  </a:glow>
                </a:effectLst>
                <a:latin typeface="Anton" pitchFamily="34" charset="0"/>
                <a:ea typeface="Anton" pitchFamily="34" charset="-122"/>
                <a:cs typeface="Anton" pitchFamily="34" charset="-120"/>
              </a:rPr>
              <a:t>PHÂN TÍCH KHÁM PHÁ DỮ LIỆU</a:t>
            </a:r>
            <a:endParaRPr lang="en-US" sz="5200" dirty="0"/>
          </a:p>
        </p:txBody>
      </p:sp>
      <p:sp>
        <p:nvSpPr>
          <p:cNvPr id="5" name="Nền nhãn môn học"/>
          <p:cNvSpPr/>
          <p:nvPr/>
        </p:nvSpPr>
        <p:spPr>
          <a:xfrm>
            <a:off x="4270248" y="1207008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041033">
              <a:alpha val="95000"/>
            </a:srgbClr>
          </a:solidFill>
          <a:ln w="12700">
            <a:solidFill>
              <a:srgbClr val="35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ôn học"/>
          <p:cNvSpPr txBox="1"/>
          <p:nvPr/>
        </p:nvSpPr>
        <p:spPr>
          <a:xfrm>
            <a:off x="4270248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gradFill rotWithShape="1">
                  <a:gsLst>
                    <a:gs pos="0">
                      <a:srgbClr val="3DF5A0"/>
                    </a:gs>
                    <a:gs pos="100000">
                      <a:srgbClr val="35D6FF"/>
                    </a:gs>
                  </a:gsLst>
                  <a:lin ang="0" scaled="0"/>
                </a:gradFill>
                <a:latin typeface="Roboto" pitchFamily="34" charset="0"/>
                <a:ea typeface="Roboto" pitchFamily="34" charset="-122"/>
                <a:cs typeface="Roboto" pitchFamily="34" charset="-120"/>
              </a:rPr>
              <a:t>BÁO CÁO MÔN HỌC: MÁY HỌC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685800" y="3703320"/>
            <a:ext cx="5943600" cy="2560320"/>
          </a:xfrm>
          <a:prstGeom prst="roundRect">
            <a:avLst>
              <a:gd name="adj" fmla="val 4286"/>
            </a:avLst>
          </a:prstGeom>
          <a:solidFill>
            <a:srgbClr val="071B4D">
              <a:alpha val="90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con" descr="/tmp/deck/assets/icon_magn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40480"/>
            <a:ext cx="566928" cy="457200"/>
          </a:xfrm>
          <a:prstGeom prst="rect">
            <a:avLst/>
          </a:prstGeom>
        </p:spPr>
      </p:pic>
      <p:sp>
        <p:nvSpPr>
          <p:cNvPr id="9" name="GVHD"/>
          <p:cNvSpPr txBox="1"/>
          <p:nvPr/>
        </p:nvSpPr>
        <p:spPr>
          <a:xfrm>
            <a:off x="1554480" y="385970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Giảng viên hướng dẫn: TS. Đỗ Như Tài</a:t>
            </a:r>
            <a:endParaRPr lang="en-US" sz="1700" dirty="0"/>
          </a:p>
        </p:txBody>
      </p:sp>
      <p:sp>
        <p:nvSpPr>
          <p:cNvPr id="10" name="Nhóm"/>
          <p:cNvSpPr txBox="1"/>
          <p:nvPr/>
        </p:nvSpPr>
        <p:spPr>
          <a:xfrm>
            <a:off x="914400" y="4389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Nhóm sinh viên thực hiện – Mã số sinh viên:</a:t>
            </a:r>
            <a:endParaRPr lang="en-US" sz="1300" dirty="0"/>
          </a:p>
        </p:txBody>
      </p:sp>
      <p:sp>
        <p:nvSpPr>
          <p:cNvPr id="11" name="Nền thành viên"/>
          <p:cNvSpPr/>
          <p:nvPr/>
        </p:nvSpPr>
        <p:spPr>
          <a:xfrm>
            <a:off x="914400" y="4718304"/>
            <a:ext cx="5486400" cy="338328"/>
          </a:xfrm>
          <a:prstGeom prst="roundRect">
            <a:avLst>
              <a:gd name="adj" fmla="val 21622"/>
            </a:avLst>
          </a:prstGeom>
          <a:solidFill>
            <a:srgbClr val="0A2A6E">
              <a:alpha val="75000"/>
            </a:srgbClr>
          </a:solidFill>
          <a:ln w="6350">
            <a:solidFill>
              <a:srgbClr val="2F7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hành viên"/>
          <p:cNvSpPr txBox="1"/>
          <p:nvPr/>
        </p:nvSpPr>
        <p:spPr>
          <a:xfrm>
            <a:off x="1051560" y="4718304"/>
            <a:ext cx="5212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Cao Ngọc Hân – 3124411083</a:t>
            </a:r>
            <a:endParaRPr lang="en-US" sz="1450" dirty="0"/>
          </a:p>
        </p:txBody>
      </p:sp>
      <p:sp>
        <p:nvSpPr>
          <p:cNvPr id="13" name="Nền thành viên"/>
          <p:cNvSpPr/>
          <p:nvPr/>
        </p:nvSpPr>
        <p:spPr>
          <a:xfrm>
            <a:off x="914400" y="5102352"/>
            <a:ext cx="5486400" cy="338328"/>
          </a:xfrm>
          <a:prstGeom prst="roundRect">
            <a:avLst>
              <a:gd name="adj" fmla="val 21622"/>
            </a:avLst>
          </a:prstGeom>
          <a:solidFill>
            <a:srgbClr val="0A2A6E">
              <a:alpha val="75000"/>
            </a:srgbClr>
          </a:solidFill>
          <a:ln w="6350">
            <a:solidFill>
              <a:srgbClr val="2F7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hành viên"/>
          <p:cNvSpPr txBox="1"/>
          <p:nvPr/>
        </p:nvSpPr>
        <p:spPr>
          <a:xfrm>
            <a:off x="1051560" y="5102352"/>
            <a:ext cx="5212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An Nhung – 31244111</a:t>
            </a:r>
            <a:endParaRPr lang="en-US" sz="1450" dirty="0"/>
          </a:p>
        </p:txBody>
      </p:sp>
      <p:sp>
        <p:nvSpPr>
          <p:cNvPr id="15" name="Nền thành viên"/>
          <p:cNvSpPr/>
          <p:nvPr/>
        </p:nvSpPr>
        <p:spPr>
          <a:xfrm>
            <a:off x="914400" y="5486400"/>
            <a:ext cx="5486400" cy="338328"/>
          </a:xfrm>
          <a:prstGeom prst="roundRect">
            <a:avLst>
              <a:gd name="adj" fmla="val 21622"/>
            </a:avLst>
          </a:prstGeom>
          <a:solidFill>
            <a:srgbClr val="0A2A6E">
              <a:alpha val="75000"/>
            </a:srgbClr>
          </a:solidFill>
          <a:ln w="6350">
            <a:solidFill>
              <a:srgbClr val="2F7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hành viên"/>
          <p:cNvSpPr txBox="1"/>
          <p:nvPr/>
        </p:nvSpPr>
        <p:spPr>
          <a:xfrm>
            <a:off x="1051560" y="5486400"/>
            <a:ext cx="5212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Trần Đỗ Khánh Linh – 3124411151</a:t>
            </a:r>
            <a:endParaRPr lang="en-US" sz="1450" dirty="0"/>
          </a:p>
        </p:txBody>
      </p:sp>
      <p:sp>
        <p:nvSpPr>
          <p:cNvPr id="17" name="Ngày"/>
          <p:cNvSpPr txBox="1"/>
          <p:nvPr/>
        </p:nvSpPr>
        <p:spPr>
          <a:xfrm>
            <a:off x="914400" y="5907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A9C6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Thành phố Hồ Chí Minh, tháng 09 năm 2026</a:t>
            </a:r>
            <a:endParaRPr lang="en-US" sz="1250" dirty="0"/>
          </a:p>
        </p:txBody>
      </p:sp>
      <p:pic>
        <p:nvPicPr>
          <p:cNvPr id="18" name="Minh họa nhóm sinh viên" descr="/tmp/deck/assets/element_students_housing_analy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611880"/>
            <a:ext cx="5074920" cy="29267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77082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3300" dirty="0"/>
          </a:p>
        </p:txBody>
      </p:sp>
      <p:sp>
        <p:nvSpPr>
          <p:cNvPr id="4" name="Tiêu đề"/>
          <p:cNvSpPr txBox="1"/>
          <p:nvPr/>
        </p:nvSpPr>
        <p:spPr>
          <a:xfrm>
            <a:off x="2225040" y="688166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Lời mở đầu</a:t>
            </a:r>
            <a:endParaRPr lang="en-US" sz="3300" dirty="0"/>
          </a:p>
        </p:txBody>
      </p:sp>
      <p:sp>
        <p:nvSpPr>
          <p:cNvPr id="5" name="Card"/>
          <p:cNvSpPr/>
          <p:nvPr/>
        </p:nvSpPr>
        <p:spPr>
          <a:xfrm>
            <a:off x="548640" y="1755648"/>
            <a:ext cx="5486400" cy="1560506"/>
          </a:xfrm>
          <a:prstGeom prst="roundRect">
            <a:avLst>
              <a:gd name="adj" fmla="val 703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Đoạn"/>
          <p:cNvSpPr txBox="1"/>
          <p:nvPr/>
        </p:nvSpPr>
        <p:spPr>
          <a:xfrm>
            <a:off x="731520" y="1755648"/>
            <a:ext cx="5120640" cy="156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Định giá chính xác tài sản đóng vai trò then chốt đối với nhà đầu tư, chuyên gia thẩm định và các bên giao dịch bất động sản.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548640" y="3462458"/>
            <a:ext cx="5486400" cy="1304685"/>
          </a:xfrm>
          <a:prstGeom prst="roundRect">
            <a:avLst>
              <a:gd name="adj" fmla="val 841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Đoạn"/>
          <p:cNvSpPr txBox="1"/>
          <p:nvPr/>
        </p:nvSpPr>
        <p:spPr>
          <a:xfrm>
            <a:off x="731520" y="3462458"/>
            <a:ext cx="5120640" cy="130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Khoa học dữ liệu và Học máy giúp chuyển dữ liệu lịch sử thô thành tri thức có giá trị dự báo cao.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548640" y="4913446"/>
            <a:ext cx="5486400" cy="1560506"/>
          </a:xfrm>
          <a:prstGeom prst="roundRect">
            <a:avLst>
              <a:gd name="adj" fmla="val 703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Đoạn"/>
          <p:cNvSpPr txBox="1"/>
          <p:nvPr/>
        </p:nvSpPr>
        <p:spPr>
          <a:xfrm>
            <a:off x="731520" y="4913446"/>
            <a:ext cx="5120640" cy="156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 xây dựng quy trình xử lý dữ liệu chuẩn mực và phát triển các mô hình hồi quy đáng tin cậy cho giá nhà Ames, Iowa.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6153912" y="1755648"/>
            <a:ext cx="5486400" cy="1816326"/>
          </a:xfrm>
          <a:prstGeom prst="roundRect">
            <a:avLst>
              <a:gd name="adj" fmla="val 6041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Đoạn"/>
          <p:cNvSpPr txBox="1"/>
          <p:nvPr/>
        </p:nvSpPr>
        <p:spPr>
          <a:xfrm>
            <a:off x="6336792" y="1755648"/>
            <a:ext cx="5120640" cy="181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Nền tảng Dean De Cock (2011): làm sạch dữ liệu, xử lý điểm ngoại lệ, biến đổi biến mục tiêu; so sánh Inference Model và Validation Model.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6153912" y="3718278"/>
            <a:ext cx="5486400" cy="1304685"/>
          </a:xfrm>
          <a:prstGeom prst="roundRect">
            <a:avLst>
              <a:gd name="adj" fmla="val 841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Đoạn"/>
          <p:cNvSpPr txBox="1"/>
          <p:nvPr/>
        </p:nvSpPr>
        <p:spPr>
          <a:xfrm>
            <a:off x="6336792" y="3718278"/>
            <a:ext cx="5120640" cy="130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 hiệu năng định lượng của mô hình và rút ra ý nghĩa kinh tế trong hành vi thị trường bất động sản.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6153912" y="5169267"/>
            <a:ext cx="5486400" cy="1304685"/>
          </a:xfrm>
          <a:prstGeom prst="roundRect">
            <a:avLst>
              <a:gd name="adj" fmla="val 841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Đoạn"/>
          <p:cNvSpPr txBox="1"/>
          <p:nvPr/>
        </p:nvSpPr>
        <p:spPr>
          <a:xfrm>
            <a:off x="6336792" y="5169267"/>
            <a:ext cx="5120640" cy="130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Báo cáo còn những hạn chế nhất định, kính mong nhận được góp ý từ Quý Thầy/Cô.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51899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33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62440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Phân công</a:t>
            </a:r>
            <a:endParaRPr lang="en-US" sz="33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con" descr="/tmp/deck/assets/icon_house_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32432"/>
            <a:ext cx="914400" cy="707136"/>
          </a:xfrm>
          <a:prstGeom prst="rect">
            <a:avLst/>
          </a:prstGeom>
        </p:spPr>
      </p:pic>
      <p:sp>
        <p:nvSpPr>
          <p:cNvPr id="7" name="Thành viên"/>
          <p:cNvSpPr txBox="1"/>
          <p:nvPr/>
        </p:nvSpPr>
        <p:spPr>
          <a:xfrm>
            <a:off x="1737360" y="1892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3124411083 – Cao Ngọc Hân: Tổng quan và chuẩn hóa kiểu dữ liệu</a:t>
            </a:r>
            <a:endParaRPr lang="en-US" sz="1400" dirty="0"/>
          </a:p>
        </p:txBody>
      </p:sp>
      <p:sp>
        <p:nvSpPr>
          <p:cNvPr id="8" name="Nội dung"/>
          <p:cNvSpPr txBox="1"/>
          <p:nvPr/>
        </p:nvSpPr>
        <p:spPr>
          <a:xfrm>
            <a:off x="658368" y="2788920"/>
            <a:ext cx="3392424" cy="3337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Chuẩn hóa tên cột, ép kiểu MSSubClass, MoSold, YrSold.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loại 35 biến định lượng, 46 biến định tính.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Thống kê 5 số cho các biến cốt lõi.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Bảng tần số MSSubClass.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Làm báo cáo.</a:t>
            </a:r>
            <a:endParaRPr lang="en-US" sz="1850" dirty="0"/>
          </a:p>
        </p:txBody>
      </p:sp>
      <p:sp>
        <p:nvSpPr>
          <p:cNvPr id="9" name="Card"/>
          <p:cNvSpPr/>
          <p:nvPr/>
        </p:nvSpPr>
        <p:spPr>
          <a:xfrm>
            <a:off x="4288536" y="178308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con" descr="/tmp/deck/assets/icon_magn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313" y="1920240"/>
            <a:ext cx="910606" cy="731520"/>
          </a:xfrm>
          <a:prstGeom prst="rect">
            <a:avLst/>
          </a:prstGeom>
        </p:spPr>
      </p:pic>
      <p:sp>
        <p:nvSpPr>
          <p:cNvPr id="11" name="Thành viên"/>
          <p:cNvSpPr txBox="1"/>
          <p:nvPr/>
        </p:nvSpPr>
        <p:spPr>
          <a:xfrm>
            <a:off x="5477256" y="1892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3124411203 – Nguyễn An Nhung</a:t>
            </a:r>
            <a:endParaRPr lang="en-US" sz="1400" dirty="0"/>
          </a:p>
        </p:txBody>
      </p:sp>
      <p:sp>
        <p:nvSpPr>
          <p:cNvPr id="12" name="Nội dung"/>
          <p:cNvSpPr txBox="1"/>
          <p:nvPr/>
        </p:nvSpPr>
        <p:spPr>
          <a:xfrm>
            <a:off x="4398264" y="2788920"/>
            <a:ext cx="3392424" cy="3337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Nạp thư viện &amp; cấu hình môi trường.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Nạp dữ liệu thô train.csv, xác nhận kích thước.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 project, soạn slide báo cáo.</a:t>
            </a:r>
            <a:endParaRPr lang="en-US" sz="1850" dirty="0"/>
          </a:p>
        </p:txBody>
      </p:sp>
      <p:sp>
        <p:nvSpPr>
          <p:cNvPr id="13" name="Card"/>
          <p:cNvSpPr/>
          <p:nvPr/>
        </p:nvSpPr>
        <p:spPr>
          <a:xfrm>
            <a:off x="8028432" y="178308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con" descr="/tmp/deck/assets/icon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1937004"/>
            <a:ext cx="914400" cy="697992"/>
          </a:xfrm>
          <a:prstGeom prst="rect">
            <a:avLst/>
          </a:prstGeom>
        </p:spPr>
      </p:pic>
      <p:sp>
        <p:nvSpPr>
          <p:cNvPr id="15" name="Thành viên"/>
          <p:cNvSpPr txBox="1"/>
          <p:nvPr/>
        </p:nvSpPr>
        <p:spPr>
          <a:xfrm>
            <a:off x="9217152" y="1892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3124411151 – Trần Đỗ Khánh Linh: Phân tích biến mục tiêu và biến đổi phân phối</a:t>
            </a:r>
            <a:endParaRPr lang="en-US" sz="1400" dirty="0"/>
          </a:p>
        </p:txBody>
      </p:sp>
      <p:sp>
        <p:nvSpPr>
          <p:cNvPr id="16" name="Nội dung"/>
          <p:cNvSpPr txBox="1"/>
          <p:nvPr/>
        </p:nvSpPr>
        <p:spPr>
          <a:xfrm>
            <a:off x="8138160" y="2788920"/>
            <a:ext cx="3392424" cy="3337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 sánh phân phối SalePrice gốc và LogSalePrice.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Tính Skewness và Kurtosis.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Vẽ Histogram và QQ-Plot đánh giá tính chuẩn.</a:t>
            </a:r>
            <a:endParaRPr lang="en-US" sz="18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Làm báo cáo.</a:t>
            </a:r>
            <a:endParaRPr lang="en-US" sz="18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50182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04</a:t>
            </a:r>
            <a:endParaRPr lang="en-US" sz="33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60723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Nội dung trình bày</a:t>
            </a:r>
            <a:endParaRPr lang="en-US" sz="33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con" descr="/tmp/deck/assets/icon_house_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19630"/>
            <a:ext cx="640080" cy="494995"/>
          </a:xfrm>
          <a:prstGeom prst="rect">
            <a:avLst/>
          </a:prstGeom>
        </p:spPr>
      </p:pic>
      <p:sp>
        <p:nvSpPr>
          <p:cNvPr id="7" name="Chương"/>
          <p:cNvSpPr txBox="1"/>
          <p:nvPr/>
        </p:nvSpPr>
        <p:spPr>
          <a:xfrm>
            <a:off x="1417320" y="187452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Chương 1. TỔNG QUAN VỀ DỮ LIỆU &amp; MÔI TRƯỜNG PHÂN TÍCH</a:t>
            </a:r>
            <a:endParaRPr lang="en-US" sz="1450" dirty="0"/>
          </a:p>
        </p:txBody>
      </p:sp>
      <p:sp>
        <p:nvSpPr>
          <p:cNvPr id="8" name="Nội dung"/>
          <p:cNvSpPr txBox="1"/>
          <p:nvPr/>
        </p:nvSpPr>
        <p:spPr>
          <a:xfrm>
            <a:off x="685800" y="2560320"/>
            <a:ext cx="4572000" cy="1508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1.1. Thư viện sử dụng và thiết lập môi trường phân tích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1.2. Khảo sát cấu trúc và chuẩn hóa kiểu dữ liệu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1.3. Bảng thống kê 5 số (Five-Number Summary) cho các biến cốt lõi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4279392"/>
            <a:ext cx="4846320" cy="868680"/>
          </a:xfrm>
          <a:prstGeom prst="roundRect">
            <a:avLst>
              <a:gd name="adj" fmla="val 1263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con" descr="/tmp/deck/assets/icon_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66" y="4443984"/>
            <a:ext cx="561747" cy="548640"/>
          </a:xfrm>
          <a:prstGeom prst="rect">
            <a:avLst/>
          </a:prstGeom>
        </p:spPr>
      </p:pic>
      <p:sp>
        <p:nvSpPr>
          <p:cNvPr id="11" name="Chương"/>
          <p:cNvSpPr txBox="1"/>
          <p:nvPr/>
        </p:nvSpPr>
        <p:spPr>
          <a:xfrm>
            <a:off x="1417320" y="442569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Chương 3. TỔNG KẾT QUY TRÌNH EDA VÀ ĐỊNH HƯỚNG MÔ HÌNH HÓA</a:t>
            </a:r>
            <a:endParaRPr lang="en-US" sz="1450" dirty="0"/>
          </a:p>
        </p:txBody>
      </p:sp>
      <p:pic>
        <p:nvPicPr>
          <p:cNvPr id="12" name="Minh họa" descr="/tmp/deck/assets/element_housing_data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0964" y="5212080"/>
            <a:ext cx="1981672" cy="1280160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5559552" y="1783080"/>
            <a:ext cx="6080760" cy="4663440"/>
          </a:xfrm>
          <a:prstGeom prst="roundRect">
            <a:avLst>
              <a:gd name="adj" fmla="val 235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con" descr="/tmp/deck/assets/icon_scat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7494" y="1892808"/>
            <a:ext cx="598516" cy="548640"/>
          </a:xfrm>
          <a:prstGeom prst="rect">
            <a:avLst/>
          </a:prstGeom>
        </p:spPr>
      </p:pic>
      <p:sp>
        <p:nvSpPr>
          <p:cNvPr id="15" name="Chương"/>
          <p:cNvSpPr txBox="1"/>
          <p:nvPr/>
        </p:nvSpPr>
        <p:spPr>
          <a:xfrm>
            <a:off x="6428232" y="1874520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Chương 2. PHÂN TÍCH PHÂN BỐ VÀ QUY TRÌNH TIỀN XỬ LÝ DỮ LIỆU CHUYÊN SÂU</a:t>
            </a:r>
            <a:endParaRPr lang="en-US" sz="1450" dirty="0"/>
          </a:p>
        </p:txBody>
      </p:sp>
      <p:sp>
        <p:nvSpPr>
          <p:cNvPr id="16" name="Nội dung"/>
          <p:cNvSpPr txBox="1"/>
          <p:nvPr/>
        </p:nvSpPr>
        <p:spPr>
          <a:xfrm>
            <a:off x="5696712" y="2606040"/>
            <a:ext cx="5806440" cy="3794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2.1. Phân tích biến mục tiêu SalePrice và biến đổi logarithm (Log1p)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2.2. Phân tích và xử lý giá trị khuyết thiếu (Missing Values Imputation)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2.3. Phân tích đơn biến và biến cờ HasBasement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2.4. Phát hiện và loại bỏ điểm ngoại lệ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2.5. Kỹ thuật tạo đặc trưng mới và đánh giá tương quan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2.6. Mã hóa thứ tự và ma trận tương quan heatmap top 10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2.7. Kiểm tra hiện tượng đa cộng tuyến (Multicollinearity)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2.8. Tái hiện đồ thị nghiên cứu gốc Dean De Cock (2011) - Figure 4 &amp; Figure 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2.9. Phân hóa giá nhà theo vị trí địa lý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26426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iêu đề"/>
          <p:cNvSpPr txBox="1"/>
          <p:nvPr/>
        </p:nvSpPr>
        <p:spPr>
          <a:xfrm>
            <a:off x="2306155" y="706898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1.1. Thư viện sử dụng và thiết lập môi trường phân tích</a:t>
            </a:r>
            <a:endParaRPr lang="en-US" sz="33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532120" cy="4663440"/>
          </a:xfrm>
          <a:prstGeom prst="roundRect">
            <a:avLst>
              <a:gd name="adj" fmla="val 235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707136" y="1764792"/>
            <a:ext cx="5303520" cy="4480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Xử lý &amp; Phân tích cấu trúc dữ liệu:</a:t>
            </a: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pandas, numpy.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Thống kê toán học &amp; Kiểm định:</a:t>
            </a: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scipy.stats, statsmodels.api, statsmodels.formula.api.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Trực quan hóa dữ liệu:</a:t>
            </a: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matplotlib.pyplot, seaborn.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Hỗ trợ mô hình hóa &amp; Phân chia dữ liệu:</a:t>
            </a: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sklearn.model_selection.train_test_split.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Tương tác hệ thống &amp; Quản lý tệp tin:</a:t>
            </a: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os, glob, warnings.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Kích hoạt cấu hình loại bỏ cảnh báo hệ thống không cần thiết.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Thiết lập hiển thị pandas và giao diện seaborn theo chuẩn xuất bản khoa học.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36208" y="1783080"/>
            <a:ext cx="5413248" cy="2011680"/>
          </a:xfrm>
          <a:prstGeom prst="roundRect">
            <a:avLst>
              <a:gd name="adj" fmla="val 5455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400800" y="1856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400800" y="2176272"/>
            <a:ext cx="5084064" cy="1508760"/>
          </a:xfrm>
          <a:prstGeom prst="roundRect">
            <a:avLst>
              <a:gd name="adj" fmla="val 4848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6510528" y="2249424"/>
            <a:ext cx="486460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warnings.filterwarnings('ignore')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plt.style.use('seaborn-v0_8-whitegrid' if 'seaborn-v0_8-whitegrid' in plt.style.available else 'default')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pd.set_option('display.max_columns', 100)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pd.set_option('display.max_rows', 100)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Đã nạp thành công các thư viện phân tích dữ liệu!</a:t>
            </a:r>
            <a:endParaRPr lang="en-US" sz="1050" dirty="0"/>
          </a:p>
        </p:txBody>
      </p:sp>
      <p:sp>
        <p:nvSpPr>
          <p:cNvPr id="11" name="Card"/>
          <p:cNvSpPr/>
          <p:nvPr/>
        </p:nvSpPr>
        <p:spPr>
          <a:xfrm>
            <a:off x="6236208" y="3931920"/>
            <a:ext cx="5413248" cy="2514600"/>
          </a:xfrm>
          <a:prstGeom prst="roundRect">
            <a:avLst>
              <a:gd name="adj" fmla="val 436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hãn"/>
          <p:cNvSpPr txBox="1"/>
          <p:nvPr/>
        </p:nvSpPr>
        <p:spPr>
          <a:xfrm>
            <a:off x="6400800" y="4005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100" dirty="0"/>
          </a:p>
        </p:txBody>
      </p:sp>
      <p:sp>
        <p:nvSpPr>
          <p:cNvPr id="13" name="Nội dung"/>
          <p:cNvSpPr txBox="1"/>
          <p:nvPr/>
        </p:nvSpPr>
        <p:spPr>
          <a:xfrm>
            <a:off x="6327648" y="4297680"/>
            <a:ext cx="5230368" cy="21031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Nạp thư viện cốt lõi, mở rộng hiển thị 100 cột/dòng.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Tắt cảnh báo, chuẩn hóa giao diện đồ họa.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Môi trường phân tích sẵn sàng.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4665" y="550024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iêu đề"/>
          <p:cNvSpPr txBox="1"/>
          <p:nvPr/>
        </p:nvSpPr>
        <p:spPr>
          <a:xfrm>
            <a:off x="2293315" y="715598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1.1. Nạp dữ liệu &amp; kiểm tra kích thước tổng quan</a:t>
            </a:r>
            <a:endParaRPr lang="en-US" sz="33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72684" cy="1855279"/>
          </a:xfrm>
          <a:prstGeom prst="roundRect">
            <a:avLst>
              <a:gd name="adj" fmla="val 591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289804" cy="1745551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Nạp dữ liệu tự động:</a:t>
            </a: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quét /kaggle/input/**/train.csv trong môi trường Kaggle.</a:t>
            </a:r>
            <a:endParaRPr lang="en-US" sz="18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Dự phòng: nạp từ GitHub (AmesHousing.csv) nếu không tìm thấy tệp cục bộ.</a:t>
            </a:r>
            <a:endParaRPr lang="en-US" sz="1850" dirty="0"/>
          </a:p>
        </p:txBody>
      </p:sp>
      <p:sp>
        <p:nvSpPr>
          <p:cNvPr id="7" name="Card"/>
          <p:cNvSpPr/>
          <p:nvPr/>
        </p:nvSpPr>
        <p:spPr>
          <a:xfrm>
            <a:off x="548640" y="3784663"/>
            <a:ext cx="5472684" cy="2689289"/>
          </a:xfrm>
          <a:prstGeom prst="roundRect">
            <a:avLst>
              <a:gd name="adj" fmla="val 4080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3866959"/>
            <a:ext cx="5198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</a:t>
            </a:r>
            <a:endParaRPr lang="en-US" sz="1100" dirty="0"/>
          </a:p>
        </p:txBody>
      </p:sp>
      <p:sp>
        <p:nvSpPr>
          <p:cNvPr id="9" name="Nội dung"/>
          <p:cNvSpPr txBox="1"/>
          <p:nvPr/>
        </p:nvSpPr>
        <p:spPr>
          <a:xfrm>
            <a:off x="651655" y="3726788"/>
            <a:ext cx="5289804" cy="2268665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Tự động tìm train.csv hoặc nạp từ URL dự phòng.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Chạy được trên Kaggle, Google Colab hay máy cá nhân.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Đã nạp thành công dữ liệu thô.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67628" y="1783080"/>
            <a:ext cx="5472684" cy="2532888"/>
          </a:xfrm>
          <a:prstGeom prst="roundRect">
            <a:avLst>
              <a:gd name="adj" fmla="val 433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Nhãn"/>
          <p:cNvSpPr txBox="1"/>
          <p:nvPr/>
        </p:nvSpPr>
        <p:spPr>
          <a:xfrm>
            <a:off x="6332220" y="1865376"/>
            <a:ext cx="5198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12" name="Nền mã"/>
          <p:cNvSpPr/>
          <p:nvPr/>
        </p:nvSpPr>
        <p:spPr>
          <a:xfrm>
            <a:off x="6313932" y="2167128"/>
            <a:ext cx="5180076" cy="2020824"/>
          </a:xfrm>
          <a:prstGeom prst="roundRect">
            <a:avLst>
              <a:gd name="adj" fmla="val 3620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Đoạn mã"/>
          <p:cNvSpPr txBox="1"/>
          <p:nvPr/>
        </p:nvSpPr>
        <p:spPr>
          <a:xfrm>
            <a:off x="6423660" y="2240280"/>
            <a:ext cx="49606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csv_files = glob.glob('/kaggle/input/**/train.csv', recursive=True) + glob.glob('/kaggle/input/**/*.csv', recursive=True)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"https://raw.githubusercontent.com/selva86/datasets/master/AmesHousing.csv"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Đã tìm thấy file dữ liệu Kaggle tại: /kaggle/input/competitions/house-prices-advanced-regression-techniques/train.csv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Kích thước dữ liệu thô: 1460 dòng, 81 cột.</a:t>
            </a:r>
            <a:endParaRPr lang="en-US" sz="900" dirty="0"/>
          </a:p>
        </p:txBody>
      </p:sp>
      <p:pic>
        <p:nvPicPr>
          <p:cNvPr id="14" name="Minh họa" descr="/tmp/deck/assets/icon_house_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315" y="4462272"/>
            <a:ext cx="260131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8701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26295" y="634326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1.2. Khảo sát cấu trúc và chuẩn hóa tên cột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606164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961219" y="2210015"/>
            <a:ext cx="4781006" cy="323697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Dữ liệu thô: 1460 bản ghi, 81 cột thuộc tính.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Xóa khoảng trắng dư thừa trong tên cột để tương thích công thức hồi quy của statsmodels.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6301108" y="1783080"/>
            <a:ext cx="5339204" cy="1252728"/>
          </a:xfrm>
          <a:prstGeom prst="roundRect">
            <a:avLst>
              <a:gd name="adj" fmla="val 875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465700" y="1865376"/>
            <a:ext cx="5064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447412" y="2167128"/>
            <a:ext cx="5046596" cy="740664"/>
          </a:xfrm>
          <a:prstGeom prst="roundRect">
            <a:avLst>
              <a:gd name="adj" fmla="val 9877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6557140" y="2240280"/>
            <a:ext cx="4827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df_raw.copy()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= [col.replace(' ', '') for col in df.columns]</a:t>
            </a:r>
            <a:endParaRPr lang="en-US" sz="1100" dirty="0"/>
          </a:p>
        </p:txBody>
      </p:sp>
      <p:pic>
        <p:nvPicPr>
          <p:cNvPr id="11" name="Minh họa" descr="/tmp/deck/assets/element_housing_data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846" y="3182112"/>
            <a:ext cx="5095728" cy="32918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272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iêu đề"/>
          <p:cNvSpPr txBox="1"/>
          <p:nvPr/>
        </p:nvSpPr>
        <p:spPr>
          <a:xfrm>
            <a:off x="2352808" y="686848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1.2. Phân tích chuyên sâu: Ý nghĩa kinh tế lượng của việc ép kiểu dữ liệu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854499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671619" cy="4581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MSSubClass, MoSold, YrSold được lưu dưới dạng số (numeric).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Giữ dạng số: hồi quy tuyến tính hiểu là biến liên tục có khoảng cách đại số đồng nhất.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Ví dụ: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hiểu lầm mã MSSubClass 60 lớn gấp 3 lần mã 20.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Bắt buộc ép kiểu về chuỗi rời rạc (object/string).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6549443" y="1783080"/>
            <a:ext cx="5090869" cy="2350008"/>
          </a:xfrm>
          <a:prstGeom prst="roundRect">
            <a:avLst>
              <a:gd name="adj" fmla="val 466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714035" y="1865376"/>
            <a:ext cx="48165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695747" y="2167128"/>
            <a:ext cx="4798261" cy="1837944"/>
          </a:xfrm>
          <a:prstGeom prst="roundRect">
            <a:avLst>
              <a:gd name="adj" fmla="val 3980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6805475" y="2240280"/>
            <a:ext cx="457880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Ép kiểu các thuộc tính bản chất là định danh/thời gian rời rạc sang String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retype_cols = ['MSSubClass', 'MoSold', 'YrSold']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retype_cols: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col in df.columns: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df[col] = df[col].astype(str)</a:t>
            </a:r>
            <a:endParaRPr lang="en-US" sz="1100" dirty="0"/>
          </a:p>
        </p:txBody>
      </p:sp>
      <p:pic>
        <p:nvPicPr>
          <p:cNvPr id="11" name="Minh họa" descr="/tmp/deck/assets/icon_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383" y="4279392"/>
            <a:ext cx="224699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5321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55862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1.2. Kết quả phân loại thuộc tính sau ép kiểu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6287765" cy="3045835"/>
          </a:xfrm>
          <a:prstGeom prst="roundRect">
            <a:avLst>
              <a:gd name="adj" fmla="val 360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6104885" cy="2936107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Sau ép kiểu, cấu trúc thuộc tính: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Biến định lượng (Numeric):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35 biến (chuẩn ban đầu: 33 biến).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Biến định tính (Categorical):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46 biến.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tra phân bố tần số của MSSubClass (bảng bên dưới).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4975219"/>
            <a:ext cx="6287765" cy="1498733"/>
          </a:xfrm>
          <a:prstGeom prst="roundRect">
            <a:avLst>
              <a:gd name="adj" fmla="val 7321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5057515"/>
            <a:ext cx="601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94944" y="5359267"/>
            <a:ext cx="5995157" cy="986669"/>
          </a:xfrm>
          <a:prstGeom prst="roundRect">
            <a:avLst>
              <a:gd name="adj" fmla="val 7414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804672" y="5432419"/>
            <a:ext cx="5775701" cy="84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 = df.select_dtypes(include=[np.number]).columns.tolist()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= df.select_dtypes(include=['object']).columns.tolist()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Số lượng biến định lượng (Numeric): 35 (Chuẩn: 33 biến)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Số lượng biến định tính (Categorical): 46 (Chuẩn: 46 biến)</a:t>
            </a:r>
            <a:endParaRPr lang="en-US" sz="1100" dirty="0"/>
          </a:p>
        </p:txBody>
      </p:sp>
      <p:sp>
        <p:nvSpPr>
          <p:cNvPr id="11" name="Chú thích bảng"/>
          <p:cNvSpPr txBox="1"/>
          <p:nvPr/>
        </p:nvSpPr>
        <p:spPr>
          <a:xfrm>
            <a:off x="6982709" y="1885871"/>
            <a:ext cx="47831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Tần số MSSubClass – df['MSSubClass'].value_counts().head(5) (notebook, cell 10)</a:t>
            </a:r>
            <a:endParaRPr lang="en-US" sz="1050" dirty="0"/>
          </a:p>
        </p:txBody>
      </p:sp>
      <p:graphicFrame>
        <p:nvGraphicFramePr>
          <p:cNvPr id="12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2709" y="2258568"/>
          <a:ext cx="4657604" cy="2816352"/>
        </p:xfrm>
        <a:graphic>
          <a:graphicData uri="http://schemas.openxmlformats.org/drawingml/2006/table">
            <a:tbl>
              <a:tblPr/>
              <a:tblGrid>
                <a:gridCol w="2328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MSSubClass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Tần số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536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60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299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50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144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120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87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69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Minh họa" descr="/tmp/deck/assets/icon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946" y="5221224"/>
            <a:ext cx="1641128" cy="12527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2783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</a:t>
            </a:r>
            <a:endParaRPr lang="en-US" sz="25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3837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1.3. Bảng thống kê 5 số (Five-Number Summary) cho các biến cốt lõi</a:t>
            </a:r>
            <a:endParaRPr lang="en-US" sz="2500" dirty="0"/>
          </a:p>
        </p:txBody>
      </p:sp>
      <p:sp>
        <p:nvSpPr>
          <p:cNvPr id="5" name="Chú thích bảng"/>
          <p:cNvSpPr txBox="1"/>
          <p:nvPr/>
        </p:nvSpPr>
        <p:spPr>
          <a:xfrm>
            <a:off x="1547015" y="18204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Bảng thống kê 5 số cho các biến cốt lõi (báo cáo, mục 1.3)</a:t>
            </a:r>
            <a:endParaRPr lang="en-US" sz="1050" dirty="0"/>
          </a:p>
        </p:txBody>
      </p:sp>
      <p:graphicFrame>
        <p:nvGraphicFramePr>
          <p:cNvPr id="11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75688"/>
          <a:ext cx="11091672" cy="2267712"/>
        </p:xfrm>
        <a:graphic>
          <a:graphicData uri="http://schemas.openxmlformats.org/drawingml/2006/table">
            <a:tbl>
              <a:tblPr/>
              <a:tblGrid>
                <a:gridCol w="1563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4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90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33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33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07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Đặc trưng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Count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Mean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Std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Min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25%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50% (Median)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75%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Max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LotFrontage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1201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70.05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24.28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21.0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59.0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69.0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313.0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LotArea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1460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10,516.83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9,981.26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1,300.0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7,553.5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9,478.5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11,601.5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215,245.0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GrLivArea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1460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1,515.46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525.48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334.0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1,129.5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1,464.0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1,776.75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5,642.0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TotalBsmtSF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1460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1,057.43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438.71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795.75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991.5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1,298.25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6,110.0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SalePrice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1460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180,921.20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79,442.50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34,900.0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129,975.0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163,000.0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214,000.0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755,000.0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4489704"/>
            <a:ext cx="11091672" cy="1984248"/>
          </a:xfrm>
          <a:prstGeom prst="roundRect">
            <a:avLst>
              <a:gd name="adj" fmla="val 553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ội dung"/>
          <p:cNvSpPr txBox="1"/>
          <p:nvPr/>
        </p:nvSpPr>
        <p:spPr>
          <a:xfrm>
            <a:off x="640080" y="4544568"/>
            <a:ext cx="10908792" cy="18745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9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 thống kê:</a:t>
            </a:r>
            <a:r>
              <a:rPr lang="en-US" sz="19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SalePrice có Mean = $180,921.20 cao hơn Median = $163,000.00.</a:t>
            </a:r>
            <a:endParaRPr lang="en-US" sz="19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LotArea: Mean 10,516.83, Median 9,478.50, cực đại 215,245.00.</a:t>
            </a:r>
            <a:endParaRPr lang="en-US" sz="19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lệch rõ so với Median: có bất động sản giá trị cực cao, kéo phân phối về bên phải.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3106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11</a:t>
            </a:r>
            <a:endParaRPr lang="en-US" sz="25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53647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2.1. Phân tích biến mục tiêu SalePrice (nguyên bản)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4292301" cy="4690872"/>
          </a:xfrm>
          <a:prstGeom prst="roundRect">
            <a:avLst>
              <a:gd name="adj" fmla="val 2556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4109421" cy="4581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SalePrice nguyên bản: Skewness = 1.88 (lệch phải nặng).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Histogram: đuôi kéo dài về phía giá trị cao.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Q-Q Plot: điểm dữ liệu chệch xa đường chéo chuẩn ở phân khúc giá cao.</a:t>
            </a:r>
            <a:endParaRPr lang="en-US" sz="2000" dirty="0"/>
          </a:p>
        </p:txBody>
      </p:sp>
      <p:sp>
        <p:nvSpPr>
          <p:cNvPr id="7" name="Nền hình"/>
          <p:cNvSpPr/>
          <p:nvPr/>
        </p:nvSpPr>
        <p:spPr>
          <a:xfrm>
            <a:off x="5050788" y="1783080"/>
            <a:ext cx="6525981" cy="4229481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Hình minh họa" descr="/tmp/nbimg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940" y="1856232"/>
            <a:ext cx="6379677" cy="4083177"/>
          </a:xfrm>
          <a:prstGeom prst="rect">
            <a:avLst/>
          </a:prstGeom>
        </p:spPr>
      </p:pic>
      <p:sp>
        <p:nvSpPr>
          <p:cNvPr id="9" name="Chú thích hình"/>
          <p:cNvSpPr txBox="1"/>
          <p:nvPr/>
        </p:nvSpPr>
        <p:spPr>
          <a:xfrm>
            <a:off x="4987245" y="6012561"/>
            <a:ext cx="6653067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2.1. Phân bố tần số và Q-Q Plot của SalePrice thô (Lệch phải) và sau khi biến đổi Log1p (Chuẩn hóa)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91596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12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702137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2.1. Biến đổi logarithm (Log1p)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4758856" cy="2785872"/>
          </a:xfrm>
          <a:prstGeom prst="roundRect">
            <a:avLst>
              <a:gd name="adj" fmla="val 39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4575976" cy="2676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Áp dụng Logarithm tự nhiên qua np.log1p() (ln(1 + x)).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Skewness giảm từ 1.88 xuống 0.12 (tiệm cận phân phối chuẩn).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Q-Q Plot: điểm dữ liệu bám sát đường chéo lý thuyết.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4715256"/>
            <a:ext cx="4758856" cy="1758696"/>
          </a:xfrm>
          <a:prstGeom prst="roundRect">
            <a:avLst>
              <a:gd name="adj" fmla="val 62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4797552"/>
            <a:ext cx="448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94944" y="5099304"/>
            <a:ext cx="4466248" cy="1246632"/>
          </a:xfrm>
          <a:prstGeom prst="roundRect">
            <a:avLst>
              <a:gd name="adj" fmla="val 5868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804672" y="5172456"/>
            <a:ext cx="424679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Tạo biến biến đổi Logarit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df['LogSalePrice'] = np.log1p(df['SalePrice'])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sns.histplot(df['LogSalePrice'], kde=True, ax=axes[1, 0], color='seagreen')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stats.probplot(df['LogSalePrice'], plot=axes[1, 1])</a:t>
            </a:r>
            <a:endParaRPr lang="en-US" sz="1100" dirty="0"/>
          </a:p>
        </p:txBody>
      </p:sp>
      <p:sp>
        <p:nvSpPr>
          <p:cNvPr id="11" name="Nền hình"/>
          <p:cNvSpPr/>
          <p:nvPr/>
        </p:nvSpPr>
        <p:spPr>
          <a:xfrm>
            <a:off x="5497846" y="1783080"/>
            <a:ext cx="6098419" cy="2053209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Hình minh họa" descr="/tmp/deck/assets/img01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998" y="1856232"/>
            <a:ext cx="5952115" cy="1906905"/>
          </a:xfrm>
          <a:prstGeom prst="rect">
            <a:avLst/>
          </a:prstGeom>
        </p:spPr>
      </p:pic>
      <p:sp>
        <p:nvSpPr>
          <p:cNvPr id="13" name="Chú thích hình"/>
          <p:cNvSpPr txBox="1"/>
          <p:nvPr/>
        </p:nvSpPr>
        <p:spPr>
          <a:xfrm>
            <a:off x="5453800" y="3836289"/>
            <a:ext cx="6186512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2.1 (hàng dưới): Log1p(SalePrice) (Skewness: 0.12) và Q-Q Plot: Log1p(SalePrice).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5453800" y="4443984"/>
            <a:ext cx="6186512" cy="2029968"/>
          </a:xfrm>
          <a:prstGeom prst="roundRect">
            <a:avLst>
              <a:gd name="adj" fmla="val 5405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Nhãn"/>
          <p:cNvSpPr txBox="1"/>
          <p:nvPr/>
        </p:nvSpPr>
        <p:spPr>
          <a:xfrm>
            <a:off x="5618392" y="4526280"/>
            <a:ext cx="591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100" dirty="0"/>
          </a:p>
        </p:txBody>
      </p:sp>
      <p:sp>
        <p:nvSpPr>
          <p:cNvPr id="16" name="Nội dung"/>
          <p:cNvSpPr txBox="1"/>
          <p:nvPr/>
        </p:nvSpPr>
        <p:spPr>
          <a:xfrm>
            <a:off x="5545240" y="4809744"/>
            <a:ext cx="6003632" cy="16093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7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Kiểm tra Skewness và áp dụng np.log1p().</a:t>
            </a:r>
            <a:endParaRPr lang="en-US" sz="17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7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Skewness giảm từ 1.88 xuống 0.12.</a:t>
            </a:r>
            <a:endParaRPr lang="en-US" sz="17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7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Khắc phục phương sai thay đổi (Heteroscedasticity).</a:t>
            </a:r>
            <a:endParaRPr lang="en-US" sz="17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4943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13</a:t>
            </a:r>
            <a:endParaRPr lang="en-US" sz="25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55484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2.1. Phân tích chuyên sâu: Ý nghĩa toán học và giả định hồi quy OLS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10908792" cy="7132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Xử lý 2 vấn đề nền tảng của hồi quy tuyến tính OLS:</a:t>
            </a:r>
            <a:endParaRPr lang="en-US" sz="1900" dirty="0"/>
          </a:p>
        </p:txBody>
      </p:sp>
      <p:sp>
        <p:nvSpPr>
          <p:cNvPr id="7" name="Card"/>
          <p:cNvSpPr/>
          <p:nvPr/>
        </p:nvSpPr>
        <p:spPr>
          <a:xfrm>
            <a:off x="548640" y="2752344"/>
            <a:ext cx="6080760" cy="2368296"/>
          </a:xfrm>
          <a:prstGeom prst="roundRect">
            <a:avLst>
              <a:gd name="adj" fmla="val 463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ội dung"/>
          <p:cNvSpPr txBox="1"/>
          <p:nvPr/>
        </p:nvSpPr>
        <p:spPr>
          <a:xfrm>
            <a:off x="640080" y="2807208"/>
            <a:ext cx="5897880" cy="22585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75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Xử lý hiện tượng phương sai </a:t>
            </a:r>
            <a:r>
              <a:rPr lang="en-US" sz="1750" b="1" dirty="0" err="1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thay</a:t>
            </a:r>
            <a:r>
              <a:rPr lang="en-US" sz="175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dirty="0" err="1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đổi</a:t>
            </a:r>
            <a:r>
              <a:rPr lang="en-US" sz="175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750" dirty="0"/>
          </a:p>
          <a:p>
            <a:pPr marL="685800" lvl="1" indent="-342900">
              <a:spcAft>
                <a:spcPts val="1400"/>
              </a:spcAft>
              <a:buSzPct val="100000"/>
              <a:buChar char="–"/>
            </a:pPr>
            <a:r>
              <a:rPr lang="en-US" sz="165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Biên độ dao động ($) ở biệt thự lớn hơn nhiều so với nhà bình dân.</a:t>
            </a:r>
            <a:endParaRPr lang="en-US" sz="1750" dirty="0"/>
          </a:p>
          <a:p>
            <a:pPr marL="685800" lvl="1" indent="-342900">
              <a:spcAft>
                <a:spcPts val="1400"/>
              </a:spcAft>
              <a:buSzPct val="100000"/>
              <a:buChar char="–"/>
            </a:pPr>
            <a:r>
              <a:rPr lang="en-US" sz="165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Thang Logarithm giúp ổn định phương sai phần dư (Homoscedasticity).</a:t>
            </a:r>
            <a:endParaRPr lang="en-US" sz="1750" dirty="0"/>
          </a:p>
        </p:txBody>
      </p:sp>
      <p:sp>
        <p:nvSpPr>
          <p:cNvPr id="9" name="Card"/>
          <p:cNvSpPr/>
          <p:nvPr/>
        </p:nvSpPr>
        <p:spPr>
          <a:xfrm>
            <a:off x="6775704" y="2752344"/>
            <a:ext cx="4864608" cy="2368296"/>
          </a:xfrm>
          <a:prstGeom prst="roundRect">
            <a:avLst>
              <a:gd name="adj" fmla="val 463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Nội dung"/>
          <p:cNvSpPr txBox="1"/>
          <p:nvPr/>
        </p:nvSpPr>
        <p:spPr>
          <a:xfrm>
            <a:off x="6867144" y="2807208"/>
            <a:ext cx="4681728" cy="22585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Thỏa mãn giả định phân phối chuẩn phần dư:</a:t>
            </a:r>
            <a:endParaRPr lang="en-US" sz="1800" dirty="0"/>
          </a:p>
          <a:p>
            <a:pPr marL="685800" lvl="1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Khoảng tin cậy và kiểm định (t-test, F-test) có giá trị hiệu lực.</a:t>
            </a:r>
            <a:endParaRPr lang="en-US" sz="1800" dirty="0"/>
          </a:p>
        </p:txBody>
      </p:sp>
      <p:pic>
        <p:nvPicPr>
          <p:cNvPr id="11" name="Icon" descr="/tmp/deck/assets/icon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122" y="5230368"/>
            <a:ext cx="1557275" cy="1188720"/>
          </a:xfrm>
          <a:prstGeom prst="rect">
            <a:avLst/>
          </a:prstGeom>
        </p:spPr>
      </p:pic>
      <p:pic>
        <p:nvPicPr>
          <p:cNvPr id="12" name="Icon" descr="/tmp/deck/assets/icon_sca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807" y="5230368"/>
            <a:ext cx="1296785" cy="1188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91594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14</a:t>
            </a:r>
            <a:endParaRPr lang="en-US" sz="26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702135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2.2. Phân tích giá trị khuyết thiếu (Missing Values)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4758856" cy="2904921"/>
          </a:xfrm>
          <a:prstGeom prst="roundRect">
            <a:avLst>
              <a:gd name="adj" fmla="val 3777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4575976" cy="2795193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cột bị khuyết thiếu dữ liệu.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khuyết: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PoolQC (99.5%), MiscFeature (96.3%), Alley (93.8%), Fence (80.8%), FireplaceQu (47.3%); Garage và Basement (5% đến 8%).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4834305"/>
            <a:ext cx="4758856" cy="1639647"/>
          </a:xfrm>
          <a:prstGeom prst="roundRect">
            <a:avLst>
              <a:gd name="adj" fmla="val 669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4916601"/>
            <a:ext cx="448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RA: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94944" y="5218353"/>
            <a:ext cx="4466248" cy="1127583"/>
          </a:xfrm>
          <a:prstGeom prst="roundRect">
            <a:avLst>
              <a:gd name="adj" fmla="val 6488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804672" y="5291505"/>
            <a:ext cx="4246792" cy="981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df.isnull().sum()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missing[missing &gt; 0].sort_values(ascending=False)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missing_pct = (missing / len(df)) * 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Tổng số cột bị khuyết thiếu: 19</a:t>
            </a:r>
            <a:endParaRPr lang="en-US" sz="1100" dirty="0"/>
          </a:p>
        </p:txBody>
      </p:sp>
      <p:sp>
        <p:nvSpPr>
          <p:cNvPr id="11" name="Nền hình"/>
          <p:cNvSpPr/>
          <p:nvPr/>
        </p:nvSpPr>
        <p:spPr>
          <a:xfrm>
            <a:off x="6177749" y="1783080"/>
            <a:ext cx="4738613" cy="2144649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Hình minh họa" descr="/tmp/nbimg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901" y="1856232"/>
            <a:ext cx="4592309" cy="1998345"/>
          </a:xfrm>
          <a:prstGeom prst="rect">
            <a:avLst/>
          </a:prstGeom>
        </p:spPr>
      </p:pic>
      <p:sp>
        <p:nvSpPr>
          <p:cNvPr id="13" name="Chú thích hình"/>
          <p:cNvSpPr txBox="1"/>
          <p:nvPr/>
        </p:nvSpPr>
        <p:spPr>
          <a:xfrm>
            <a:off x="5453800" y="3927729"/>
            <a:ext cx="6186512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2.2. Tỷ lệ (%) giá trị khuyết thiếu Top 15 đặc trưng trong tập dữ liệu Ames Housing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5453800" y="4535424"/>
            <a:ext cx="6186512" cy="1938528"/>
          </a:xfrm>
          <a:prstGeom prst="roundRect">
            <a:avLst>
              <a:gd name="adj" fmla="val 5660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Nhãn"/>
          <p:cNvSpPr txBox="1"/>
          <p:nvPr/>
        </p:nvSpPr>
        <p:spPr>
          <a:xfrm>
            <a:off x="5618392" y="4617720"/>
            <a:ext cx="591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100" dirty="0"/>
          </a:p>
        </p:txBody>
      </p:sp>
      <p:sp>
        <p:nvSpPr>
          <p:cNvPr id="16" name="Nội dung"/>
          <p:cNvSpPr txBox="1"/>
          <p:nvPr/>
        </p:nvSpPr>
        <p:spPr>
          <a:xfrm>
            <a:off x="5545240" y="4901184"/>
            <a:ext cx="6003632" cy="151790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Thống kê tỷ lệ khuyết, vẽ Barplot Top 15.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Phát hiện các thuộc tính có tỷ lệ khuyết cao.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Khuyết chủ yếu do nhà không có tiện ích, không phải lỗi thu thập.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77504" y="582265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15</a:t>
            </a:r>
            <a:endParaRPr lang="en-US" sz="2700" dirty="0"/>
          </a:p>
        </p:txBody>
      </p:sp>
      <p:sp>
        <p:nvSpPr>
          <p:cNvPr id="4" name="Tiêu đề"/>
          <p:cNvSpPr txBox="1"/>
          <p:nvPr/>
        </p:nvSpPr>
        <p:spPr>
          <a:xfrm>
            <a:off x="2222179" y="692806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2.2. Phân tích chuyên sâu: Bản chất nghiệp vụ bất động sản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6567221" cy="1732788"/>
          </a:xfrm>
          <a:prstGeom prst="roundRect">
            <a:avLst>
              <a:gd name="adj" fmla="val 633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6384341" cy="16230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NaN trong Ames Housing mang bản chất nghiệp vụ rõ ràng, không phải lỗi kỹ thuật thu thập.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3662172"/>
            <a:ext cx="6567221" cy="1466088"/>
          </a:xfrm>
          <a:prstGeom prst="roundRect">
            <a:avLst>
              <a:gd name="adj" fmla="val 748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ội dung"/>
          <p:cNvSpPr txBox="1"/>
          <p:nvPr/>
        </p:nvSpPr>
        <p:spPr>
          <a:xfrm>
            <a:off x="640080" y="3717036"/>
            <a:ext cx="6384341" cy="13563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Căn nhà thực sự không có tiện ích tương ứng (hồ bơi, hầm, gara, hàng rào).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548640" y="5274564"/>
            <a:ext cx="6567221" cy="1199388"/>
          </a:xfrm>
          <a:prstGeom prst="roundRect">
            <a:avLst>
              <a:gd name="adj" fmla="val 914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Nội dung"/>
          <p:cNvSpPr txBox="1"/>
          <p:nvPr/>
        </p:nvSpPr>
        <p:spPr>
          <a:xfrm>
            <a:off x="640080" y="5329428"/>
            <a:ext cx="6384341" cy="10896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Điền khuyết theo chiến lược 4 bước.</a:t>
            </a:r>
            <a:endParaRPr lang="en-US" sz="2000" dirty="0"/>
          </a:p>
        </p:txBody>
      </p:sp>
      <p:pic>
        <p:nvPicPr>
          <p:cNvPr id="11" name="Minh họa" descr="/tmp/deck/assets/element_housing_data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165" y="2714374"/>
            <a:ext cx="4378147" cy="282828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4943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16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55484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2.2. Chiến lược điền khuyết: bước 1 và bước 2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72684" cy="3131312"/>
          </a:xfrm>
          <a:prstGeom prst="roundRect">
            <a:avLst>
              <a:gd name="adj" fmla="val 350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289804" cy="302158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Tiện ích hạng mục không tồn tại:</a:t>
            </a:r>
            <a:r>
              <a:rPr lang="en-US" sz="170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Điền 'None' cho 15 thuộc tính</a:t>
            </a:r>
            <a:endParaRPr lang="en-US" sz="1700" dirty="0"/>
          </a:p>
          <a:p>
            <a:pPr marL="685800" lvl="1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PoolQC, MiscFeature, Alley, Fence, FireplaceQu, GarageType, GarageFinish, GarageQual, GarageCond, BsmtQual, BsmtCond, BsmtExposure, BsmtFinType1, BsmtFinType2, MasVnrType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167628" y="1783080"/>
            <a:ext cx="5472684" cy="3131312"/>
          </a:xfrm>
          <a:prstGeom prst="roundRect">
            <a:avLst>
              <a:gd name="adj" fmla="val 350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ội dung"/>
          <p:cNvSpPr txBox="1"/>
          <p:nvPr/>
        </p:nvSpPr>
        <p:spPr>
          <a:xfrm>
            <a:off x="6259068" y="1837944"/>
            <a:ext cx="5289804" cy="302158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Diện tích/số lượng bằng 0:</a:t>
            </a:r>
            <a:r>
              <a:rPr lang="en-US" sz="170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Điền 0 cho biến định lượng của Gara và Hầm</a:t>
            </a:r>
            <a:endParaRPr lang="en-US" sz="1700" dirty="0"/>
          </a:p>
          <a:p>
            <a:pPr marL="685800" lvl="1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GarageArea, GarageCars, GarageYrBlt, TotalBsmtSF, BsmtFinSF1, BsmtFinSF2, BsmtUnfSF, BsmtFullBath, BsmtHalfBath, MasVnrArea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548640" y="5060696"/>
            <a:ext cx="11091672" cy="1413256"/>
          </a:xfrm>
          <a:prstGeom prst="roundRect">
            <a:avLst>
              <a:gd name="adj" fmla="val 776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Nhãn"/>
          <p:cNvSpPr txBox="1"/>
          <p:nvPr/>
        </p:nvSpPr>
        <p:spPr>
          <a:xfrm>
            <a:off x="713232" y="514299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11" name="Nền mã"/>
          <p:cNvSpPr/>
          <p:nvPr/>
        </p:nvSpPr>
        <p:spPr>
          <a:xfrm>
            <a:off x="694944" y="5444744"/>
            <a:ext cx="10799064" cy="901192"/>
          </a:xfrm>
          <a:prstGeom prst="roundRect">
            <a:avLst>
              <a:gd name="adj" fmla="val 8117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Đoạn mã"/>
          <p:cNvSpPr txBox="1"/>
          <p:nvPr/>
        </p:nvSpPr>
        <p:spPr>
          <a:xfrm>
            <a:off x="804672" y="5517896"/>
            <a:ext cx="10579608" cy="7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Điền 'None' cho các thuộc tính hạng mục không có tiện ích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 = df[col].fillna('None')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Điền số 0 cho các biến định lượng của Gara và Hầm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 = df[col].fillna(0)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77504" y="572930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17</a:t>
            </a:r>
            <a:endParaRPr lang="en-US" sz="2400" dirty="0"/>
          </a:p>
        </p:txBody>
      </p:sp>
      <p:sp>
        <p:nvSpPr>
          <p:cNvPr id="4" name="Tiêu đề"/>
          <p:cNvSpPr txBox="1"/>
          <p:nvPr/>
        </p:nvSpPr>
        <p:spPr>
          <a:xfrm>
            <a:off x="2222179" y="683471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4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2.2. Chiến lược điền khuyết: bước 3, bước 4 và kết quả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72684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59376" y="1613793"/>
            <a:ext cx="5289804" cy="4581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Nhóm chiều rộng mặt tiền LotFrontage:</a:t>
            </a:r>
            <a:endParaRPr lang="en-US" sz="1900" dirty="0"/>
          </a:p>
          <a:p>
            <a:pPr marL="685800" lvl="1" indent="-342900">
              <a:spcAft>
                <a:spcPts val="800"/>
              </a:spcAft>
              <a:buSzPct val="100000"/>
              <a:buChar char="–"/>
            </a:pPr>
            <a:r>
              <a:rPr lang="en-US" sz="180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Chịu tác động bởi quy hoạch kiến trúc từng khu vực.</a:t>
            </a:r>
            <a:endParaRPr lang="en-US" sz="1900" dirty="0"/>
          </a:p>
          <a:p>
            <a:pPr marL="685800" lvl="1" indent="-342900">
              <a:spcAft>
                <a:spcPts val="800"/>
              </a:spcAft>
              <a:buSzPct val="100000"/>
              <a:buChar char="–"/>
            </a:pPr>
            <a:r>
              <a:rPr lang="en-US" sz="180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Điền bằng trung vị (Median) theo từng Neighborhood.</a:t>
            </a:r>
            <a:endParaRPr lang="en-US" sz="1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Biến định tính còn lại điền bằng Mode:</a:t>
            </a:r>
            <a:endParaRPr lang="en-US" sz="1900" dirty="0"/>
          </a:p>
          <a:p>
            <a:pPr marL="685800" lvl="1" indent="-342900">
              <a:spcAft>
                <a:spcPts val="800"/>
              </a:spcAft>
              <a:buSzPct val="100000"/>
              <a:buChar char="–"/>
            </a:pPr>
            <a:r>
              <a:rPr lang="en-US" sz="180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MSZoning, Electrical, KitchenQual, Exterior1st, Exterior2nd, SaleType.</a:t>
            </a:r>
            <a:endParaRPr lang="en-US" sz="1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quả thực thi:</a:t>
            </a: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Số ô dữ liệu khuyết sau xử lý bằng 0.</a:t>
            </a:r>
            <a:endParaRPr lang="en-US" sz="1900" dirty="0"/>
          </a:p>
        </p:txBody>
      </p:sp>
      <p:sp>
        <p:nvSpPr>
          <p:cNvPr id="7" name="Card"/>
          <p:cNvSpPr/>
          <p:nvPr/>
        </p:nvSpPr>
        <p:spPr>
          <a:xfrm>
            <a:off x="6167628" y="1783080"/>
            <a:ext cx="5472684" cy="1490269"/>
          </a:xfrm>
          <a:prstGeom prst="roundRect">
            <a:avLst>
              <a:gd name="adj" fmla="val 736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332220" y="1865376"/>
            <a:ext cx="5198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RA: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313932" y="2167128"/>
            <a:ext cx="5180076" cy="978205"/>
          </a:xfrm>
          <a:prstGeom prst="roundRect">
            <a:avLst>
              <a:gd name="adj" fmla="val 7478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6423660" y="2240280"/>
            <a:ext cx="4960620" cy="83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df['LotFrontage'] = df.groupby('Neighborhood')['LotFrontage'].transform(lambda x: x.fillna(x.median()))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 = df[col].fillna(df[col].mode()[0])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Số lượng ô dữ liệu khuyết còn lại: 0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6167628" y="3419653"/>
            <a:ext cx="5472684" cy="3054299"/>
          </a:xfrm>
          <a:prstGeom prst="roundRect">
            <a:avLst>
              <a:gd name="adj" fmla="val 3593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hãn"/>
          <p:cNvSpPr txBox="1"/>
          <p:nvPr/>
        </p:nvSpPr>
        <p:spPr>
          <a:xfrm>
            <a:off x="6332220" y="3501949"/>
            <a:ext cx="5198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100" dirty="0"/>
          </a:p>
        </p:txBody>
      </p:sp>
      <p:sp>
        <p:nvSpPr>
          <p:cNvPr id="13" name="Nội dung"/>
          <p:cNvSpPr txBox="1"/>
          <p:nvPr/>
        </p:nvSpPr>
        <p:spPr>
          <a:xfrm>
            <a:off x="6263350" y="3530278"/>
            <a:ext cx="5289804" cy="205917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Điền khuyết theo bản chất thực tế của bất động sản.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'None'/0 cho tiện ích không có; Median theo Neighborhood; Mode cho biến còn lại.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Làm sạch 100% dữ liệu khuyết.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77504" y="572935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18</a:t>
            </a:r>
            <a:endParaRPr lang="en-US" sz="2600" dirty="0"/>
          </a:p>
        </p:txBody>
      </p:sp>
      <p:sp>
        <p:nvSpPr>
          <p:cNvPr id="4" name="Tiêu đề"/>
          <p:cNvSpPr txBox="1"/>
          <p:nvPr/>
        </p:nvSpPr>
        <p:spPr>
          <a:xfrm>
            <a:off x="2222179" y="683476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2.3. Phân tích đơn biến: GrLivArea và TotalBsmtSF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10908792" cy="13075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bố độc lập của 5 thuộc tính nồng cốt: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vi-VN" sz="16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GrLivArea:</a:t>
            </a: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Skewness = 1.37, tập trung 1,000 – 2,000 sq ft.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TotalBsmtSF:</a:t>
            </a:r>
            <a:r>
              <a:rPr lang="en-US" sz="16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Skewness = 1.52, cột tần suất lớn tại 0 (nhà không xây hầm).</a:t>
            </a:r>
            <a:endParaRPr lang="en-US" sz="1600" dirty="0"/>
          </a:p>
        </p:txBody>
      </p:sp>
      <p:sp>
        <p:nvSpPr>
          <p:cNvPr id="7" name="Nền hình"/>
          <p:cNvSpPr/>
          <p:nvPr/>
        </p:nvSpPr>
        <p:spPr>
          <a:xfrm>
            <a:off x="548640" y="3521496"/>
            <a:ext cx="5472684" cy="2482961"/>
          </a:xfrm>
          <a:prstGeom prst="roundRect">
            <a:avLst>
              <a:gd name="adj" fmla="val 2946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Hình minh họa" descr="/tmp/nbimg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94648"/>
            <a:ext cx="5326380" cy="2336657"/>
          </a:xfrm>
          <a:prstGeom prst="rect">
            <a:avLst/>
          </a:prstGeom>
        </p:spPr>
      </p:pic>
      <p:sp>
        <p:nvSpPr>
          <p:cNvPr id="9" name="Chú thích hình"/>
          <p:cNvSpPr txBox="1"/>
          <p:nvPr/>
        </p:nvSpPr>
        <p:spPr>
          <a:xfrm>
            <a:off x="548640" y="6014722"/>
            <a:ext cx="547268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Diện tích sinh hoạt mặt đất GrLivArea (Skew: 1.37)</a:t>
            </a:r>
            <a:endParaRPr lang="en-US" sz="1050" dirty="0"/>
          </a:p>
        </p:txBody>
      </p:sp>
      <p:sp>
        <p:nvSpPr>
          <p:cNvPr id="10" name="Nền hình"/>
          <p:cNvSpPr/>
          <p:nvPr/>
        </p:nvSpPr>
        <p:spPr>
          <a:xfrm>
            <a:off x="6167628" y="3521496"/>
            <a:ext cx="5472684" cy="2482961"/>
          </a:xfrm>
          <a:prstGeom prst="roundRect">
            <a:avLst>
              <a:gd name="adj" fmla="val 2946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Hình minh họa" descr="/tmp/nbimg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3594648"/>
            <a:ext cx="5326380" cy="2336657"/>
          </a:xfrm>
          <a:prstGeom prst="rect">
            <a:avLst/>
          </a:prstGeom>
        </p:spPr>
      </p:pic>
      <p:sp>
        <p:nvSpPr>
          <p:cNvPr id="12" name="Chú thích hình"/>
          <p:cNvSpPr txBox="1"/>
          <p:nvPr/>
        </p:nvSpPr>
        <p:spPr>
          <a:xfrm>
            <a:off x="6167628" y="6014722"/>
            <a:ext cx="547268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Diện tích tầng hầm TotalBsmtSF (Skew: 1.52)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72934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19</a:t>
            </a:r>
            <a:endParaRPr lang="en-US" sz="26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83475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2.3. Phân tích đơn biến: OverallQual và GarageCars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10908792" cy="8961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OverallQual: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Thang 1–10, mức 5, 6, 7 chiếm áp đảo.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GarageCars: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Phổ biến nhất là 1 xe và 2 xe.</a:t>
            </a:r>
            <a:endParaRPr lang="en-US" sz="1700" dirty="0"/>
          </a:p>
        </p:txBody>
      </p:sp>
      <p:sp>
        <p:nvSpPr>
          <p:cNvPr id="7" name="Nền hình"/>
          <p:cNvSpPr/>
          <p:nvPr/>
        </p:nvSpPr>
        <p:spPr>
          <a:xfrm>
            <a:off x="548640" y="3315756"/>
            <a:ext cx="5472684" cy="2482961"/>
          </a:xfrm>
          <a:prstGeom prst="roundRect">
            <a:avLst>
              <a:gd name="adj" fmla="val 2946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Hình minh họa" descr="/tmp/nbimg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88908"/>
            <a:ext cx="5326380" cy="2336657"/>
          </a:xfrm>
          <a:prstGeom prst="rect">
            <a:avLst/>
          </a:prstGeom>
        </p:spPr>
      </p:pic>
      <p:sp>
        <p:nvSpPr>
          <p:cNvPr id="9" name="Chú thích hình"/>
          <p:cNvSpPr txBox="1"/>
          <p:nvPr/>
        </p:nvSpPr>
        <p:spPr>
          <a:xfrm>
            <a:off x="548640" y="5808982"/>
            <a:ext cx="547268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Tần số mức chất lượng tổng thể OverallQual (1 - 10)</a:t>
            </a:r>
            <a:endParaRPr lang="en-US" sz="1050" dirty="0"/>
          </a:p>
        </p:txBody>
      </p:sp>
      <p:sp>
        <p:nvSpPr>
          <p:cNvPr id="10" name="Nền hình"/>
          <p:cNvSpPr/>
          <p:nvPr/>
        </p:nvSpPr>
        <p:spPr>
          <a:xfrm>
            <a:off x="6167628" y="3315756"/>
            <a:ext cx="5472684" cy="2482961"/>
          </a:xfrm>
          <a:prstGeom prst="roundRect">
            <a:avLst>
              <a:gd name="adj" fmla="val 2946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Hình minh họa" descr="/tmp/nbimg_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3388908"/>
            <a:ext cx="5326380" cy="2336657"/>
          </a:xfrm>
          <a:prstGeom prst="rect">
            <a:avLst/>
          </a:prstGeom>
        </p:spPr>
      </p:pic>
      <p:sp>
        <p:nvSpPr>
          <p:cNvPr id="12" name="Chú thích hình"/>
          <p:cNvSpPr txBox="1"/>
          <p:nvPr/>
        </p:nvSpPr>
        <p:spPr>
          <a:xfrm>
            <a:off x="6167628" y="5808982"/>
            <a:ext cx="547268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Sức chứa xe của gara GarageCars (0 - 4 xe)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82265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92806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2.3. Phân tích đơn biến: Neighborhood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4657603" cy="1136142"/>
          </a:xfrm>
          <a:prstGeom prst="roundRect">
            <a:avLst>
              <a:gd name="adj" fmla="val 9658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4474723" cy="102641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Neighborhood:</a:t>
            </a:r>
            <a:r>
              <a:rPr lang="en-US" sz="17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NAmes (North Ames) có số lượng giao dịch nhiều nhất.</a:t>
            </a:r>
            <a:endParaRPr lang="en-US" sz="1750" dirty="0"/>
          </a:p>
        </p:txBody>
      </p:sp>
      <p:sp>
        <p:nvSpPr>
          <p:cNvPr id="7" name="Card"/>
          <p:cNvSpPr/>
          <p:nvPr/>
        </p:nvSpPr>
        <p:spPr>
          <a:xfrm>
            <a:off x="548640" y="3065526"/>
            <a:ext cx="4657603" cy="3408426"/>
          </a:xfrm>
          <a:prstGeom prst="roundRect">
            <a:avLst>
              <a:gd name="adj" fmla="val 3219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3147822"/>
            <a:ext cx="43832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100" dirty="0"/>
          </a:p>
        </p:txBody>
      </p:sp>
      <p:sp>
        <p:nvSpPr>
          <p:cNvPr id="9" name="Nội dung"/>
          <p:cNvSpPr txBox="1"/>
          <p:nvPr/>
        </p:nvSpPr>
        <p:spPr>
          <a:xfrm>
            <a:off x="667511" y="3148313"/>
            <a:ext cx="4474723" cy="2220531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Khảo sát phân phối của 5 thuộc tính cốt lõi.</a:t>
            </a:r>
            <a:endParaRPr lang="en-US" sz="16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 biểu đồ đơn biến, đề xuất biến cờ HasBasement.</a:t>
            </a:r>
            <a:endParaRPr lang="en-US" sz="16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Chất lượng 5–7 chiếm ưu thế, gara 1–2 xe, NAmes giao dịch nhiều nhất.</a:t>
            </a:r>
            <a:endParaRPr lang="en-US" sz="1650" dirty="0"/>
          </a:p>
        </p:txBody>
      </p:sp>
      <p:sp>
        <p:nvSpPr>
          <p:cNvPr id="10" name="Nền hình"/>
          <p:cNvSpPr/>
          <p:nvPr/>
        </p:nvSpPr>
        <p:spPr>
          <a:xfrm>
            <a:off x="5352547" y="2161004"/>
            <a:ext cx="6287765" cy="3473633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Hình minh họa" descr="/tmp/nbimg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699" y="2234156"/>
            <a:ext cx="6141461" cy="3327329"/>
          </a:xfrm>
          <a:prstGeom prst="rect">
            <a:avLst/>
          </a:prstGeom>
        </p:spPr>
      </p:pic>
      <p:sp>
        <p:nvSpPr>
          <p:cNvPr id="12" name="Chú thích hình"/>
          <p:cNvSpPr txBox="1"/>
          <p:nvPr/>
        </p:nvSpPr>
        <p:spPr>
          <a:xfrm>
            <a:off x="5352547" y="5643017"/>
            <a:ext cx="6287765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2.3. Biểu đồ phân bố đơn biến của GrLivArea, TotalBsmtSF, OverallQual, GarageCars và Neighborhood (5. Số lượng giao dịch nhà theo khu vực Neighborhood)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6126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21</a:t>
            </a:r>
            <a:endParaRPr lang="en-US" sz="26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56667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2.3. Đề xuất kỹ thuật: Khởi tạo biến cờ nhị phân HasBasement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606164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961708" y="1952085"/>
            <a:ext cx="4846320" cy="392006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Nhà có hầm và không có hầm khác biệt về cấu trúc, biến cờ nhị phân HasBasement được khởi tạo.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Bóc tách hiệu ứng giá trị nền của việc có hầm trước khi tính tác động biên của diện tích hầm.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6301108" y="1783080"/>
            <a:ext cx="5339204" cy="2167128"/>
          </a:xfrm>
          <a:prstGeom prst="roundRect">
            <a:avLst>
              <a:gd name="adj" fmla="val 506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465700" y="1865376"/>
            <a:ext cx="5064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RA: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447412" y="2167128"/>
            <a:ext cx="5046596" cy="1655064"/>
          </a:xfrm>
          <a:prstGeom prst="roundRect">
            <a:avLst>
              <a:gd name="adj" fmla="val 4420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6557140" y="2240280"/>
            <a:ext cx="48271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Đề xuất tiền xử lý: Tạo biến nhị phân HasBasement (0 nếu không hầm, 1 nếu có hầm)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df['HasBasement'] = (df['TotalBsmtSF'] &gt; 0).astype(int)</a:t>
            </a:r>
            <a:endParaRPr lang="en-US" sz="1100" dirty="0"/>
          </a:p>
        </p:txBody>
      </p:sp>
      <p:pic>
        <p:nvPicPr>
          <p:cNvPr id="11" name="Minh họa" descr="/tmp/deck/assets/icon_house_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572" y="4096512"/>
            <a:ext cx="3074276" cy="23774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54272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22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64813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2.4. Phát hiện điểm ngoại lệ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339204" cy="2258568"/>
          </a:xfrm>
          <a:prstGeom prst="roundRect">
            <a:avLst>
              <a:gd name="adj" fmla="val 4858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156324" cy="21488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 khuyến nghị của Dean De Cock (2011), vẽ Scatter Plot giữa GrLivArea và SalePrice.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Phát hiện 4 căn nhà có GrLivArea &gt; 4000 sq ft.</a:t>
            </a:r>
            <a:endParaRPr lang="en-US" sz="2000" dirty="0"/>
          </a:p>
        </p:txBody>
      </p:sp>
      <p:sp>
        <p:nvSpPr>
          <p:cNvPr id="7" name="Chú thích bảng"/>
          <p:cNvSpPr txBox="1"/>
          <p:nvPr/>
        </p:nvSpPr>
        <p:spPr>
          <a:xfrm>
            <a:off x="548640" y="4187952"/>
            <a:ext cx="5339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Bảng thống kê chi tiết các căn nhà có GrLivArea &gt; 4000 sq ft (báo cáo, mục 2.4)</a:t>
            </a:r>
            <a:endParaRPr lang="en-US" sz="1050" dirty="0"/>
          </a:p>
        </p:txBody>
      </p:sp>
      <p:graphicFrame>
        <p:nvGraphicFramePr>
          <p:cNvPr id="23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5339205" cy="2029154"/>
        </p:xfrm>
        <a:graphic>
          <a:graphicData uri="http://schemas.openxmlformats.org/drawingml/2006/table">
            <a:tbl>
              <a:tblPr/>
              <a:tblGrid>
                <a:gridCol w="498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Id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GrLivArea (sq ft)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OverallQual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SaleCondition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SalePrice ($)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524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4,676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Partial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$184,750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692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4,316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Normal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$755,000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1183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4,476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Abnorml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$745,000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1299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5,642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Partial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$160,000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Nền hình"/>
          <p:cNvSpPr/>
          <p:nvPr/>
        </p:nvSpPr>
        <p:spPr>
          <a:xfrm>
            <a:off x="6034148" y="2119250"/>
            <a:ext cx="5606164" cy="3557140"/>
          </a:xfrm>
          <a:prstGeom prst="roundRect">
            <a:avLst>
              <a:gd name="adj" fmla="val 2056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Hình minh họa" descr="/tmp/nbimg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300" y="2192402"/>
            <a:ext cx="5459860" cy="3410836"/>
          </a:xfrm>
          <a:prstGeom prst="rect">
            <a:avLst/>
          </a:prstGeom>
        </p:spPr>
      </p:pic>
      <p:sp>
        <p:nvSpPr>
          <p:cNvPr id="11" name="Chú thích hình"/>
          <p:cNvSpPr txBox="1"/>
          <p:nvPr/>
        </p:nvSpPr>
        <p:spPr>
          <a:xfrm>
            <a:off x="6034148" y="5683254"/>
            <a:ext cx="560616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2.4. Biểu đồ tán xạ giữa GrLivArea và SalePrice với đường ngưỡng 4000 sq ft và gán nhãn ID 4 căn nhà cực đại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60133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23</a:t>
            </a:r>
            <a:endParaRPr lang="en-US" sz="26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71187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2.4. Phân tích chuyên sâu: Biện luận loại bỏ điểm đòn bẩy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970201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97992" y="1459789"/>
            <a:ext cx="5787321" cy="4581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biệt ngoại lệ hợp lệ và điểm đòn bẩy nguy hiểm: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 692 &amp; Id 1183: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Diện tích &gt; 4300 sq ft, giá $745,000 - $755,000, đúng giá trị biệt thự xa xỉ. Hợp lệ.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 524 &amp; Id 1299: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Diện tích 4,676 và 5,642 sq ft, giá rẻ bất thường (&lt; $190,000), giao dịch dạng Partial.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giữ lại: kéo lệch mặt phẳng hồi quy, gây sai số nghiêm trọng.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Loại bỏ Id 524 và Id 1299.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Kích thước tập dữ liệu sạch sau xử lý:</a:t>
            </a:r>
            <a:r>
              <a:rPr lang="en-US" sz="18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1458 dòng quan sát.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6665145" y="1783080"/>
            <a:ext cx="4975167" cy="1455217"/>
          </a:xfrm>
          <a:prstGeom prst="roundRect">
            <a:avLst>
              <a:gd name="adj" fmla="val 754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829737" y="1865376"/>
            <a:ext cx="470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RA: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811449" y="2167128"/>
            <a:ext cx="4682559" cy="943153"/>
          </a:xfrm>
          <a:prstGeom prst="roundRect">
            <a:avLst>
              <a:gd name="adj" fmla="val 7756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6921177" y="2240280"/>
            <a:ext cx="4463103" cy="796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df[~df['Id'].isin([524, 1299])].reset_index(drop=True)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Kích thước dữ liệu sau khi loại bỏ 2 điểm đòn bẩy (Id 524 &amp; 1299): (1458, 83) dòng.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6665145" y="3384601"/>
            <a:ext cx="4975167" cy="3089351"/>
          </a:xfrm>
          <a:prstGeom prst="roundRect">
            <a:avLst>
              <a:gd name="adj" fmla="val 3552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hãn"/>
          <p:cNvSpPr txBox="1"/>
          <p:nvPr/>
        </p:nvSpPr>
        <p:spPr>
          <a:xfrm>
            <a:off x="6829737" y="3466897"/>
            <a:ext cx="470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100" dirty="0"/>
          </a:p>
        </p:txBody>
      </p:sp>
      <p:sp>
        <p:nvSpPr>
          <p:cNvPr id="13" name="Nội dung"/>
          <p:cNvSpPr txBox="1"/>
          <p:nvPr/>
        </p:nvSpPr>
        <p:spPr>
          <a:xfrm>
            <a:off x="6763696" y="3577285"/>
            <a:ext cx="4792287" cy="2668727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Phát hiện điểm bất thường giữa GrLivArea và SalePrice.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Gán nhãn 4 căn &gt; 4000 sq ft, loại 2 điểm đòn bẩy.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Mặt phẳng hồi quy không bị kéo lệch.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88493" y="52005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Tiêu đề"/>
          <p:cNvSpPr txBox="1"/>
          <p:nvPr/>
        </p:nvSpPr>
        <p:spPr>
          <a:xfrm>
            <a:off x="2233168" y="65091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2.5. Kỹ thuật tạo đặc trưng mới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6080760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897880" cy="4581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đặc trưng tổng hợp được khởi tạo: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diện tích sử dụng </a:t>
            </a:r>
            <a:r>
              <a:rPr lang="en-US" sz="155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thực</a:t>
            </a: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tế</a:t>
            </a: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TotalSF = TotalBsmtSF + 1stFlrSF + 2ndFlrSF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số phòng tắm </a:t>
            </a:r>
            <a:r>
              <a:rPr lang="en-US" sz="155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quy</a:t>
            </a: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đổi</a:t>
            </a: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TotalBath = FullBath + 0.5 × HalfBath + BsmtFullBath + 0.5 × BsmtHalfBath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Tuổi thọ căn nhà tại thời </a:t>
            </a:r>
            <a:r>
              <a:rPr lang="en-US" sz="155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điểm</a:t>
            </a: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bán</a:t>
            </a: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HouseAge = YrSold − YearBuilt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Thời gian kể từ lần cải tạo gần </a:t>
            </a:r>
            <a:r>
              <a:rPr lang="en-US" sz="1550" b="1" dirty="0" err="1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nhất</a:t>
            </a: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:</a:t>
            </a: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RemodAge = YrSold − YearRemodAdd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tích chuyên sâu:</a:t>
            </a:r>
            <a:r>
              <a:rPr lang="en-US" sz="1550" b="1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Kiểm soát rủi ro dữ liệu đầu vào</a:t>
            </a:r>
            <a:endParaRPr lang="en-US" sz="1550" dirty="0"/>
          </a:p>
          <a:p>
            <a:pPr marL="685800" lvl="1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 số nhập liệu (YrSold nhỏ hơn YearBuilt, YearRemodAdd) làm tuổi thọ âm.</a:t>
            </a:r>
            <a:endParaRPr lang="en-US" sz="1550" dirty="0"/>
          </a:p>
          <a:p>
            <a:pPr marL="685800" lvl="1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Áp dụng hàm kiểm soát giá trị nhỏ nhất max(0, x).</a:t>
            </a:r>
            <a:endParaRPr lang="en-US" sz="1550" dirty="0"/>
          </a:p>
        </p:txBody>
      </p:sp>
      <p:sp>
        <p:nvSpPr>
          <p:cNvPr id="7" name="Card"/>
          <p:cNvSpPr/>
          <p:nvPr/>
        </p:nvSpPr>
        <p:spPr>
          <a:xfrm>
            <a:off x="6775704" y="1783080"/>
            <a:ext cx="4864608" cy="2532888"/>
          </a:xfrm>
          <a:prstGeom prst="roundRect">
            <a:avLst>
              <a:gd name="adj" fmla="val 433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940296" y="1865376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RA: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922008" y="2167128"/>
            <a:ext cx="4572000" cy="2020824"/>
          </a:xfrm>
          <a:prstGeom prst="roundRect">
            <a:avLst>
              <a:gd name="adj" fmla="val 3620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7031736" y="2240280"/>
            <a:ext cx="43525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df['HouseAge'] = df['YrSold'].astype(int) - df['YearBuilt'].astype(int)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df['RemodAge'] = df['YrSold'].astype(int) - df['YearRemodAdd'].astype(int)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C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Đảm bảo không bị số âm nếu có lỗi nhập liệu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df['HouseAge'] = df['HouseAge'].apply(lambda x: max(0, x))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df['RemodAge'] = df['RemodAge'].apply(lambda x: max(0, x))</a:t>
            </a:r>
            <a:endParaRPr lang="en-US" sz="950" dirty="0"/>
          </a:p>
        </p:txBody>
      </p:sp>
      <p:pic>
        <p:nvPicPr>
          <p:cNvPr id="11" name="Minh họa" descr="/tmp/deck/assets/icon_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138" y="4462272"/>
            <a:ext cx="2059741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78333" y="57085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25</a:t>
            </a:r>
            <a:endParaRPr lang="en-US" sz="2500" dirty="0"/>
          </a:p>
        </p:txBody>
      </p:sp>
      <p:sp>
        <p:nvSpPr>
          <p:cNvPr id="4" name="Tiêu đề"/>
          <p:cNvSpPr txBox="1"/>
          <p:nvPr/>
        </p:nvSpPr>
        <p:spPr>
          <a:xfrm>
            <a:off x="2223008" y="68139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2.5. Đánh giá tương quan: đặc trưng thành phần và đặc trưng tích hợp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733288" cy="1941957"/>
          </a:xfrm>
          <a:prstGeom prst="roundRect">
            <a:avLst>
              <a:gd name="adj" fmla="val 565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550408" cy="1832229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Gộp biến giúp gia tăng sức mạnh giải thích.</a:t>
            </a:r>
            <a:endParaRPr lang="en-US" sz="18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TotalSF đạt r = 0.8329, cao hơn TotalBsmtSF (0.6512) và 1stFlrSF (0.6315), là biến định lượng đơn lẻ mạnh nhất.</a:t>
            </a:r>
            <a:endParaRPr lang="en-US" sz="1850" dirty="0"/>
          </a:p>
        </p:txBody>
      </p:sp>
      <p:sp>
        <p:nvSpPr>
          <p:cNvPr id="7" name="Card"/>
          <p:cNvSpPr/>
          <p:nvPr/>
        </p:nvSpPr>
        <p:spPr>
          <a:xfrm>
            <a:off x="548640" y="3871341"/>
            <a:ext cx="5733288" cy="2602611"/>
          </a:xfrm>
          <a:prstGeom prst="roundRect">
            <a:avLst>
              <a:gd name="adj" fmla="val 4216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3953637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100" dirty="0"/>
          </a:p>
        </p:txBody>
      </p:sp>
      <p:sp>
        <p:nvSpPr>
          <p:cNvPr id="9" name="Nội dung"/>
          <p:cNvSpPr txBox="1"/>
          <p:nvPr/>
        </p:nvSpPr>
        <p:spPr>
          <a:xfrm>
            <a:off x="640080" y="4044061"/>
            <a:ext cx="5550408" cy="2181987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Tạo đặc trưng tích hợp về không gian và tuổi thọ.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Tạo TotalSF, TotalBath, HouseAge, RemodAge; so sánh hệ số r.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TotalSF tương quan vượt trội so với biến thành phần.</a:t>
            </a:r>
            <a:endParaRPr lang="en-US" sz="1700" dirty="0"/>
          </a:p>
        </p:txBody>
      </p:sp>
      <p:sp>
        <p:nvSpPr>
          <p:cNvPr id="10" name="Chú thích bảng"/>
          <p:cNvSpPr txBox="1"/>
          <p:nvPr/>
        </p:nvSpPr>
        <p:spPr>
          <a:xfrm>
            <a:off x="6428232" y="17830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Bảng 2.1. So sánh hệ số tương quan Pearson (r) với SalePrice giữa đặc trưng thành phần và đặc trưng tích hợp</a:t>
            </a:r>
            <a:endParaRPr lang="en-US" sz="1050" dirty="0"/>
          </a:p>
        </p:txBody>
      </p:sp>
      <p:graphicFrame>
        <p:nvGraphicFramePr>
          <p:cNvPr id="26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2258568"/>
          <a:ext cx="5212081" cy="3331825"/>
        </p:xfrm>
        <a:graphic>
          <a:graphicData uri="http://schemas.openxmlformats.org/drawingml/2006/table">
            <a:tbl>
              <a:tblPr/>
              <a:tblGrid>
                <a:gridCol w="156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Đặc trưng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Loại biến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5D6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Hệ số tương quan (r) với SalePrice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TotalSF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Mới tạo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0.8329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TotalBsmtSF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Cũ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0.6512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TotalBath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Mới tạo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0.6359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1stFlrSF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Cũ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0.6315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FullBath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Cũ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0.5622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2ndFlrSF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Cũ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0.3205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HalfBath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Cũ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4F9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0.2846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2" name="Minh họa" descr="/tmp/deck/assets/icon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583" y="5684355"/>
            <a:ext cx="861378" cy="78959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0989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26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2043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2.6. Mã hóa thứ tự (Ordinal Encoding)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970201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1097281" y="2052328"/>
            <a:ext cx="5201920" cy="39562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Ánh xạ thứ tự các thuộc tính chất lượng dạng chuỗi theo thang đo số: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qual_mapping = {'Ex':</a:t>
            </a: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5, 'Gd': 4, 'TA': 3, 'Fa': 2, 'Po': 1, 'None': 0}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Mã hóa đầy đủ 9 thuộc tính chất lượng: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ordinal_cols = ['ExterQual', 'ExterCond', 'BsmtQual', 'BsmtCond', 'HeatingQC', 'KitchenQual', 'FireplaceQu', 'GarageQual', 'GarageCond']</a:t>
            </a:r>
            <a:endParaRPr lang="en-US" sz="1900" dirty="0"/>
          </a:p>
        </p:txBody>
      </p:sp>
      <p:sp>
        <p:nvSpPr>
          <p:cNvPr id="7" name="Card"/>
          <p:cNvSpPr/>
          <p:nvPr/>
        </p:nvSpPr>
        <p:spPr>
          <a:xfrm>
            <a:off x="6665145" y="1783080"/>
            <a:ext cx="4975167" cy="2441448"/>
          </a:xfrm>
          <a:prstGeom prst="roundRect">
            <a:avLst>
              <a:gd name="adj" fmla="val 449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6829737" y="1865376"/>
            <a:ext cx="470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RA: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811449" y="2167128"/>
            <a:ext cx="4682559" cy="1929384"/>
          </a:xfrm>
          <a:prstGeom prst="roundRect">
            <a:avLst>
              <a:gd name="adj" fmla="val 3791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6921177" y="2240280"/>
            <a:ext cx="4463103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df_encoded = df.copy()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ordinal_cols: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col in df_encoded.columns: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df_encoded[col + '_Num'] = df_encoded[col].map(qual_mapping).fillna(0)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Đã hoàn thành mã hóa thang đo thứ tự cho nhóm biến chất lượng!</a:t>
            </a:r>
            <a:endParaRPr lang="en-US" sz="1100" dirty="0"/>
          </a:p>
        </p:txBody>
      </p:sp>
      <p:pic>
        <p:nvPicPr>
          <p:cNvPr id="11" name="Minh họa" descr="/tmp/deck/assets/ic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984" y="4370832"/>
            <a:ext cx="2445488" cy="2103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31361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27</a:t>
            </a:r>
            <a:endParaRPr lang="en-US" sz="24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8139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4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2.6. Danh sách Top 10 đặc trưng tương quan mạnh nhất với LogSalePrice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72684" cy="821131"/>
          </a:xfrm>
          <a:prstGeom prst="roundRect">
            <a:avLst>
              <a:gd name="adj" fmla="val 1336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289804" cy="711403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TotalSF (r ≈ 0.83) - Tổng diện tích sử dụng tích hợp.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2750515"/>
            <a:ext cx="5472684" cy="821131"/>
          </a:xfrm>
          <a:prstGeom prst="roundRect">
            <a:avLst>
              <a:gd name="adj" fmla="val 1336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ội dung"/>
          <p:cNvSpPr txBox="1"/>
          <p:nvPr/>
        </p:nvSpPr>
        <p:spPr>
          <a:xfrm>
            <a:off x="640080" y="2805379"/>
            <a:ext cx="5289804" cy="711403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OverallQual (r ≈ 0.82) - Điểm chất lượng tổng thể công trình.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717950"/>
            <a:ext cx="5472684" cy="821131"/>
          </a:xfrm>
          <a:prstGeom prst="roundRect">
            <a:avLst>
              <a:gd name="adj" fmla="val 1336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Nội dung"/>
          <p:cNvSpPr txBox="1"/>
          <p:nvPr/>
        </p:nvSpPr>
        <p:spPr>
          <a:xfrm>
            <a:off x="640080" y="3772814"/>
            <a:ext cx="5289804" cy="711403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GrLivArea (r ≈ 0.73) - Diện tích sinh hoạt trên mặt đất.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4685386"/>
            <a:ext cx="5472684" cy="821131"/>
          </a:xfrm>
          <a:prstGeom prst="roundRect">
            <a:avLst>
              <a:gd name="adj" fmla="val 1336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ội dung"/>
          <p:cNvSpPr txBox="1"/>
          <p:nvPr/>
        </p:nvSpPr>
        <p:spPr>
          <a:xfrm>
            <a:off x="640080" y="4740250"/>
            <a:ext cx="5289804" cy="711403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ExterQual_Num (r ≈ 0.69) - Chất lượng vật liệu ngoại thất (Đã mã hóa).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5652821"/>
            <a:ext cx="5472684" cy="821131"/>
          </a:xfrm>
          <a:prstGeom prst="roundRect">
            <a:avLst>
              <a:gd name="adj" fmla="val 1336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Nội dung"/>
          <p:cNvSpPr txBox="1"/>
          <p:nvPr/>
        </p:nvSpPr>
        <p:spPr>
          <a:xfrm>
            <a:off x="640080" y="5707685"/>
            <a:ext cx="5289804" cy="711403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GarageCars (r ≈ 0.68) - Sức chứa gara theo số lượng xe.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167628" y="1783080"/>
            <a:ext cx="5472684" cy="871423"/>
          </a:xfrm>
          <a:prstGeom prst="roundRect">
            <a:avLst>
              <a:gd name="adj" fmla="val 1259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Nội dung"/>
          <p:cNvSpPr txBox="1"/>
          <p:nvPr/>
        </p:nvSpPr>
        <p:spPr>
          <a:xfrm>
            <a:off x="6259068" y="1837944"/>
            <a:ext cx="5289804" cy="761695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KitchenQual_Num (r ≈ 0.67) - Chất lượng không gian bếp (Đã mã hóa).</a:t>
            </a:r>
            <a:endParaRPr lang="en-US" sz="1650" dirty="0"/>
          </a:p>
        </p:txBody>
      </p:sp>
      <p:sp>
        <p:nvSpPr>
          <p:cNvPr id="17" name="Card"/>
          <p:cNvSpPr/>
          <p:nvPr/>
        </p:nvSpPr>
        <p:spPr>
          <a:xfrm>
            <a:off x="6167628" y="2800807"/>
            <a:ext cx="5472684" cy="871423"/>
          </a:xfrm>
          <a:prstGeom prst="roundRect">
            <a:avLst>
              <a:gd name="adj" fmla="val 1259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Nội dung"/>
          <p:cNvSpPr txBox="1"/>
          <p:nvPr/>
        </p:nvSpPr>
        <p:spPr>
          <a:xfrm>
            <a:off x="6259068" y="2855671"/>
            <a:ext cx="5289804" cy="761695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 TotalBath (r ≈ 0.65) - Tổng số phòng tắm quy đổi.</a:t>
            </a:r>
            <a:endParaRPr lang="en-US" sz="1650" dirty="0"/>
          </a:p>
        </p:txBody>
      </p:sp>
      <p:sp>
        <p:nvSpPr>
          <p:cNvPr id="19" name="Card"/>
          <p:cNvSpPr/>
          <p:nvPr/>
        </p:nvSpPr>
        <p:spPr>
          <a:xfrm>
            <a:off x="6167628" y="3818534"/>
            <a:ext cx="5472684" cy="619963"/>
          </a:xfrm>
          <a:prstGeom prst="roundRect">
            <a:avLst>
              <a:gd name="adj" fmla="val 1769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Nội dung"/>
          <p:cNvSpPr txBox="1"/>
          <p:nvPr/>
        </p:nvSpPr>
        <p:spPr>
          <a:xfrm>
            <a:off x="6259068" y="3873398"/>
            <a:ext cx="5289804" cy="510235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 GarageArea (r ≈ 0.65) - Diện tích gara.</a:t>
            </a:r>
            <a:endParaRPr lang="en-US" sz="1650" dirty="0"/>
          </a:p>
        </p:txBody>
      </p:sp>
      <p:sp>
        <p:nvSpPr>
          <p:cNvPr id="21" name="Card"/>
          <p:cNvSpPr/>
          <p:nvPr/>
        </p:nvSpPr>
        <p:spPr>
          <a:xfrm>
            <a:off x="6167628" y="4584802"/>
            <a:ext cx="5472684" cy="871423"/>
          </a:xfrm>
          <a:prstGeom prst="roundRect">
            <a:avLst>
              <a:gd name="adj" fmla="val 1259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Nội dung"/>
          <p:cNvSpPr txBox="1"/>
          <p:nvPr/>
        </p:nvSpPr>
        <p:spPr>
          <a:xfrm>
            <a:off x="6259068" y="4639666"/>
            <a:ext cx="5289804" cy="761695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 BsmtQual_Num (r ≈ 0.61) - Độ cao/Chất lượng tầng hầm (Đã mã hóa).</a:t>
            </a:r>
            <a:endParaRPr lang="en-US" sz="1650" dirty="0"/>
          </a:p>
        </p:txBody>
      </p:sp>
      <p:sp>
        <p:nvSpPr>
          <p:cNvPr id="23" name="Card"/>
          <p:cNvSpPr/>
          <p:nvPr/>
        </p:nvSpPr>
        <p:spPr>
          <a:xfrm>
            <a:off x="6167628" y="5602529"/>
            <a:ext cx="5472684" cy="871423"/>
          </a:xfrm>
          <a:prstGeom prst="roundRect">
            <a:avLst>
              <a:gd name="adj" fmla="val 1259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Nội dung"/>
          <p:cNvSpPr txBox="1"/>
          <p:nvPr/>
        </p:nvSpPr>
        <p:spPr>
          <a:xfrm>
            <a:off x="6259068" y="5657393"/>
            <a:ext cx="5289804" cy="761695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6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 YearBuilt (r ≈ 0.59) - Năm xây dựng ban đầu.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5053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28</a:t>
            </a:r>
            <a:endParaRPr lang="en-US" sz="29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6107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9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2.6. Ma trận tương quan Heatmap Top 10</a:t>
            </a:r>
            <a:endParaRPr lang="en-US" sz="29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854499" cy="1130082"/>
          </a:xfrm>
          <a:prstGeom prst="roundRect">
            <a:avLst>
              <a:gd name="adj" fmla="val 971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671619" cy="102035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Vai trò then chốt: chất lượng ngoại thất (ExterQual_Num r ≈ 0.69) và chất lượng bếp (KitchenQual_Num r ≈ 0.67).</a:t>
            </a:r>
            <a:endParaRPr lang="en-US" sz="1550" dirty="0"/>
          </a:p>
        </p:txBody>
      </p:sp>
      <p:sp>
        <p:nvSpPr>
          <p:cNvPr id="7" name="Card"/>
          <p:cNvSpPr/>
          <p:nvPr/>
        </p:nvSpPr>
        <p:spPr>
          <a:xfrm>
            <a:off x="548640" y="3059466"/>
            <a:ext cx="5854499" cy="1414824"/>
          </a:xfrm>
          <a:prstGeom prst="roundRect">
            <a:avLst>
              <a:gd name="adj" fmla="val 7756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3141762"/>
            <a:ext cx="55801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ĐOẠN MÃ / KẾT QUẢ IN RA</a:t>
            </a:r>
            <a:endParaRPr lang="en-US" sz="1100" dirty="0"/>
          </a:p>
        </p:txBody>
      </p:sp>
      <p:sp>
        <p:nvSpPr>
          <p:cNvPr id="9" name="Nền mã"/>
          <p:cNvSpPr/>
          <p:nvPr/>
        </p:nvSpPr>
        <p:spPr>
          <a:xfrm>
            <a:off x="694944" y="3443514"/>
            <a:ext cx="5561891" cy="902760"/>
          </a:xfrm>
          <a:prstGeom prst="roundRect">
            <a:avLst>
              <a:gd name="adj" fmla="val 8103"/>
            </a:avLst>
          </a:prstGeom>
          <a:solidFill>
            <a:srgbClr val="030B26">
              <a:alpha val="95000"/>
            </a:srgbClr>
          </a:solidFill>
          <a:ln w="9525">
            <a:solidFill>
              <a:srgbClr val="2F7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Đoạn mã"/>
          <p:cNvSpPr txBox="1"/>
          <p:nvPr/>
        </p:nvSpPr>
        <p:spPr>
          <a:xfrm>
            <a:off x="804672" y="3516666"/>
            <a:ext cx="5342435" cy="75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top10_cols = corr_matrix.nlargest(10, 'LogSalePrice')['LogSalePrice'].index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sns.heatmap(df_encoded[top10_cols].corr(), annot=True, fmt='.2f', cmap='coolwarm', square=True, linewidths=.5)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548640" y="4620594"/>
            <a:ext cx="5854499" cy="1853358"/>
          </a:xfrm>
          <a:prstGeom prst="roundRect">
            <a:avLst>
              <a:gd name="adj" fmla="val 5920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hãn"/>
          <p:cNvSpPr txBox="1"/>
          <p:nvPr/>
        </p:nvSpPr>
        <p:spPr>
          <a:xfrm>
            <a:off x="713232" y="4702890"/>
            <a:ext cx="55801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</a:t>
            </a:r>
            <a:endParaRPr lang="en-US" sz="1100" dirty="0"/>
          </a:p>
        </p:txBody>
      </p:sp>
      <p:sp>
        <p:nvSpPr>
          <p:cNvPr id="13" name="Nội dung"/>
          <p:cNvSpPr txBox="1"/>
          <p:nvPr/>
        </p:nvSpPr>
        <p:spPr>
          <a:xfrm>
            <a:off x="660400" y="4780582"/>
            <a:ext cx="5671619" cy="143273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4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Chuyển thang đo chất lượng chuỗi sang dạng số _Num.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4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Mã hóa 9 cột, vẽ Heatmap Top 10 với LogSalePrice.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4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ExterQual_Num (r=0.69), KitchenQual_Num (r=0.66) giữ vai trò then chốt.</a:t>
            </a:r>
            <a:endParaRPr lang="en-US" sz="1450" dirty="0"/>
          </a:p>
        </p:txBody>
      </p:sp>
      <p:sp>
        <p:nvSpPr>
          <p:cNvPr id="14" name="Nền hình"/>
          <p:cNvSpPr/>
          <p:nvPr/>
        </p:nvSpPr>
        <p:spPr>
          <a:xfrm>
            <a:off x="6778563" y="1783080"/>
            <a:ext cx="4632630" cy="4229481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Hình minh họa" descr="/tmp/nbimg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715" y="1856232"/>
            <a:ext cx="4486326" cy="4083177"/>
          </a:xfrm>
          <a:prstGeom prst="rect">
            <a:avLst/>
          </a:prstGeom>
        </p:spPr>
      </p:pic>
      <p:sp>
        <p:nvSpPr>
          <p:cNvPr id="16" name="Chú thích hình"/>
          <p:cNvSpPr txBox="1"/>
          <p:nvPr/>
        </p:nvSpPr>
        <p:spPr>
          <a:xfrm>
            <a:off x="6549443" y="6012561"/>
            <a:ext cx="5090869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2.5. Ma trận tương quan Heatmap Top 10 đặc trưng ảnh hưởng mạnh nhất đến LogSalePrice (đã mã hóa thứ tự Ordinal)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2005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29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3059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3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2.7. Kiểm tra hiện tượng đa cộng tuyến (Multicollinearity)</a:t>
            </a:r>
            <a:endParaRPr lang="en-US" sz="23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10908792" cy="12618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cặp biến định lượng tương quan rất cao: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Cặp 1: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GarageCars và GarageArea (r ≈ 0.89), cùng đo quy mô gara.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Cặp 2: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TotalBsmtSF và 1stFlrSF (r ≈ 0.80), diện tích hầm và tầng 1 xấp xỉ bằng nhau.</a:t>
            </a:r>
            <a:endParaRPr lang="en-US" sz="1700" dirty="0"/>
          </a:p>
        </p:txBody>
      </p:sp>
      <p:sp>
        <p:nvSpPr>
          <p:cNvPr id="7" name="Nền hình"/>
          <p:cNvSpPr/>
          <p:nvPr/>
        </p:nvSpPr>
        <p:spPr>
          <a:xfrm>
            <a:off x="2146400" y="3300984"/>
            <a:ext cx="7896151" cy="2878265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Hình minh họa" descr="/tmp/nbimg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552" y="3374136"/>
            <a:ext cx="7749847" cy="2731960"/>
          </a:xfrm>
          <a:prstGeom prst="rect">
            <a:avLst/>
          </a:prstGeom>
        </p:spPr>
      </p:pic>
      <p:sp>
        <p:nvSpPr>
          <p:cNvPr id="9" name="Chú thích hình"/>
          <p:cNvSpPr txBox="1"/>
          <p:nvPr/>
        </p:nvSpPr>
        <p:spPr>
          <a:xfrm>
            <a:off x="548640" y="6179249"/>
            <a:ext cx="11091672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2.6. Biểu đồ kiểm tra tương quan đa cộng tuyến giữa GarageCars - GarageArea và TotalBsmtSF - 1stFlrSF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4037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30</a:t>
            </a:r>
            <a:endParaRPr lang="en-US" sz="26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5091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2.7. Phân tích chuyên sâu: Tác động đến kiểm định thống kê t-test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7414604" cy="1196340"/>
          </a:xfrm>
          <a:prstGeom prst="roundRect">
            <a:avLst>
              <a:gd name="adj" fmla="val 917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7231724" cy="10866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Đa cộng tuyến không làm giảm R² nhưng làm bùng nổ sai số chuẩn của hệ số hồi quy β.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3125724"/>
            <a:ext cx="7414604" cy="929640"/>
          </a:xfrm>
          <a:prstGeom prst="roundRect">
            <a:avLst>
              <a:gd name="adj" fmla="val 1180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ội dung"/>
          <p:cNvSpPr txBox="1"/>
          <p:nvPr/>
        </p:nvSpPr>
        <p:spPr>
          <a:xfrm>
            <a:off x="640080" y="3180588"/>
            <a:ext cx="7231724" cy="8199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Trị thống kê t (t = β̂ / SE(β̂)) suy giảm mạnh.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548640" y="4201668"/>
            <a:ext cx="7414604" cy="1196340"/>
          </a:xfrm>
          <a:prstGeom prst="roundRect">
            <a:avLst>
              <a:gd name="adj" fmla="val 9172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Nội dung"/>
          <p:cNvSpPr txBox="1"/>
          <p:nvPr/>
        </p:nvSpPr>
        <p:spPr>
          <a:xfrm>
            <a:off x="640080" y="4256532"/>
            <a:ext cx="7231724" cy="10866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Biến có tác động vẫn nhận p-value cao (p &gt; 0.05), bị kết luận sai là không có ý nghĩa thống kê.</a:t>
            </a:r>
            <a:endParaRPr lang="en-US" sz="2000" dirty="0"/>
          </a:p>
        </p:txBody>
      </p:sp>
      <p:sp>
        <p:nvSpPr>
          <p:cNvPr id="11" name="Card"/>
          <p:cNvSpPr/>
          <p:nvPr/>
        </p:nvSpPr>
        <p:spPr>
          <a:xfrm>
            <a:off x="548640" y="5544312"/>
            <a:ext cx="7414604" cy="929640"/>
          </a:xfrm>
          <a:prstGeom prst="roundRect">
            <a:avLst>
              <a:gd name="adj" fmla="val 1180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ội dung"/>
          <p:cNvSpPr txBox="1"/>
          <p:nvPr/>
        </p:nvSpPr>
        <p:spPr>
          <a:xfrm>
            <a:off x="640080" y="5599176"/>
            <a:ext cx="7231724" cy="8199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Chỉ nên giữ 1 trong 2 biến (ví dụ: GarageCars và TotalSF).</a:t>
            </a:r>
            <a:endParaRPr lang="en-US" sz="2000" dirty="0"/>
          </a:p>
        </p:txBody>
      </p:sp>
      <p:pic>
        <p:nvPicPr>
          <p:cNvPr id="13" name="Minh họa" descr="/tmp/deck/assets/ic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548" y="2610288"/>
            <a:ext cx="3530764" cy="303645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9117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31</a:t>
            </a:r>
            <a:endParaRPr lang="en-US" sz="27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70171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2.8. Tái hiện đồ thị nghiên cứu gốc Dean De Cock (2011) – Figure 4</a:t>
            </a:r>
            <a:endParaRPr lang="en-US" sz="27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733288" cy="2220087"/>
          </a:xfrm>
          <a:prstGeom prst="roundRect">
            <a:avLst>
              <a:gd name="adj" fmla="val 494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550408" cy="2110359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4 (Fitted Line Plot - SalePrice vs TotalSF)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Đường xu hướng tuyến tính dốc lên mạnh mẽ.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9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 hệ thuận chiều chặt chẽ giữa tổng diện tích và giá trị giao dịch.</a:t>
            </a:r>
            <a:endParaRPr lang="en-US" sz="1900" dirty="0"/>
          </a:p>
        </p:txBody>
      </p:sp>
      <p:sp>
        <p:nvSpPr>
          <p:cNvPr id="7" name="Card"/>
          <p:cNvSpPr/>
          <p:nvPr/>
        </p:nvSpPr>
        <p:spPr>
          <a:xfrm>
            <a:off x="548640" y="4149471"/>
            <a:ext cx="5733288" cy="2324481"/>
          </a:xfrm>
          <a:prstGeom prst="roundRect">
            <a:avLst>
              <a:gd name="adj" fmla="val 4721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4231767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XÉT</a:t>
            </a:r>
            <a:endParaRPr lang="en-US" sz="1100" dirty="0"/>
          </a:p>
        </p:txBody>
      </p:sp>
      <p:sp>
        <p:nvSpPr>
          <p:cNvPr id="9" name="Nội dung"/>
          <p:cNvSpPr txBox="1"/>
          <p:nvPr/>
        </p:nvSpPr>
        <p:spPr>
          <a:xfrm>
            <a:off x="640080" y="4322191"/>
            <a:ext cx="5550408" cy="1903857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7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Tái hiện Fitted Line Plot của Dean De Cock (2011).</a:t>
            </a:r>
            <a:endParaRPr lang="en-US" sz="17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7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Thể hiện quan hệ tuyến tính thuận rất mạnh.</a:t>
            </a:r>
            <a:endParaRPr lang="en-US" sz="17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7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TotalSF là đặc trưng định lượng đơn lẻ dự báo giá nhà tốt nhất.</a:t>
            </a:r>
            <a:endParaRPr lang="en-US" sz="1750" dirty="0"/>
          </a:p>
        </p:txBody>
      </p:sp>
      <p:sp>
        <p:nvSpPr>
          <p:cNvPr id="10" name="Nền hình"/>
          <p:cNvSpPr/>
          <p:nvPr/>
        </p:nvSpPr>
        <p:spPr>
          <a:xfrm>
            <a:off x="6428232" y="2088933"/>
            <a:ext cx="5212080" cy="3617775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Hình minh họa" descr="/tmp/nbimg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162085"/>
            <a:ext cx="5065776" cy="3471471"/>
          </a:xfrm>
          <a:prstGeom prst="rect">
            <a:avLst/>
          </a:prstGeom>
        </p:spPr>
      </p:pic>
      <p:sp>
        <p:nvSpPr>
          <p:cNvPr id="12" name="Chú thích hình"/>
          <p:cNvSpPr txBox="1"/>
          <p:nvPr/>
        </p:nvSpPr>
        <p:spPr>
          <a:xfrm>
            <a:off x="6428232" y="5580384"/>
            <a:ext cx="5212080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4 (Dean De Cock Paper): Fitted Line Plot (SalePrice vs TotalSF)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8101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32</a:t>
            </a:r>
            <a:endParaRPr lang="en-US" sz="26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9155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2.8. Tái hiện đồ thị nghiên cứu gốc Dean De Cock (2011) – Figure 7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212080" cy="2648712"/>
          </a:xfrm>
          <a:prstGeom prst="roundRect">
            <a:avLst>
              <a:gd name="adj" fmla="val 4143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029200" cy="253898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7 (Scatterplot SalePrice vs TotalSF by SaleCondition)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hóa giá bán theo điều kiện giao dịch (SaleCondition):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Nhóm Partial (Nhà mới xây):</a:t>
            </a: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Ở biên trên, cùng TotalSF đạt giá thặng dư cao hơn.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Nhóm Abnorml (Giao dịch bất thường/Bán tháo):</a:t>
            </a: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Ở biên dưới, bị chiết khấu giá.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4578096"/>
            <a:ext cx="5212080" cy="1895856"/>
          </a:xfrm>
          <a:prstGeom prst="roundRect">
            <a:avLst>
              <a:gd name="adj" fmla="val 5788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Nhãn"/>
          <p:cNvSpPr txBox="1"/>
          <p:nvPr/>
        </p:nvSpPr>
        <p:spPr>
          <a:xfrm>
            <a:off x="713232" y="4660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XÉT</a:t>
            </a:r>
            <a:endParaRPr lang="en-US" sz="1100" dirty="0"/>
          </a:p>
        </p:txBody>
      </p:sp>
      <p:sp>
        <p:nvSpPr>
          <p:cNvPr id="9" name="Nội dung"/>
          <p:cNvSpPr txBox="1"/>
          <p:nvPr/>
        </p:nvSpPr>
        <p:spPr>
          <a:xfrm>
            <a:off x="663230" y="4861097"/>
            <a:ext cx="4198138" cy="12161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3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Khảo sát phân hóa giá theo SaleCondition.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3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Partial có giá thặng dư cao hơn, Abnormal bị chiết khấu.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3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Bổ sung yếu tố hình thức giao dịch cho mô hình.</a:t>
            </a:r>
            <a:endParaRPr lang="en-US" sz="1300" dirty="0"/>
          </a:p>
        </p:txBody>
      </p:sp>
      <p:sp>
        <p:nvSpPr>
          <p:cNvPr id="10" name="Nền hình"/>
          <p:cNvSpPr/>
          <p:nvPr/>
        </p:nvSpPr>
        <p:spPr>
          <a:xfrm>
            <a:off x="5907024" y="2311206"/>
            <a:ext cx="5733288" cy="3173228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Hình minh họa" descr="/tmp/nbimg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384358"/>
            <a:ext cx="5586984" cy="3026924"/>
          </a:xfrm>
          <a:prstGeom prst="rect">
            <a:avLst/>
          </a:prstGeom>
        </p:spPr>
      </p:pic>
      <p:sp>
        <p:nvSpPr>
          <p:cNvPr id="12" name="Chú thích hình"/>
          <p:cNvSpPr txBox="1"/>
          <p:nvPr/>
        </p:nvSpPr>
        <p:spPr>
          <a:xfrm>
            <a:off x="5907024" y="5492815"/>
            <a:ext cx="5733288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2.8. Tái hiện Figure 7 (Phân hóa giá nhà theo điều kiện bán SaleCondition)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68173" y="53021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33</a:t>
            </a:r>
            <a:endParaRPr lang="en-US" sz="3000" dirty="0"/>
          </a:p>
        </p:txBody>
      </p:sp>
      <p:sp>
        <p:nvSpPr>
          <p:cNvPr id="4" name="Tiêu đề"/>
          <p:cNvSpPr txBox="1"/>
          <p:nvPr/>
        </p:nvSpPr>
        <p:spPr>
          <a:xfrm>
            <a:off x="2212848" y="64075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2.9. Phân hóa giá nhà theo vị trí địa lý</a:t>
            </a:r>
            <a:endParaRPr lang="en-US" sz="2700" dirty="0"/>
          </a:p>
        </p:txBody>
      </p:sp>
      <p:sp>
        <p:nvSpPr>
          <p:cNvPr id="5" name="Nền hình"/>
          <p:cNvSpPr/>
          <p:nvPr/>
        </p:nvSpPr>
        <p:spPr>
          <a:xfrm>
            <a:off x="1088234" y="1783080"/>
            <a:ext cx="5001572" cy="2208657"/>
          </a:xfrm>
          <a:prstGeom prst="roundRect">
            <a:avLst>
              <a:gd name="adj" fmla="val 3312"/>
            </a:avLst>
          </a:prstGeom>
          <a:solidFill>
            <a:srgbClr val="FFFFFF"/>
          </a:solidFill>
          <a:ln w="15875">
            <a:solidFill>
              <a:srgbClr val="35D6FF"/>
            </a:solidFill>
            <a:prstDash val="solid"/>
          </a:ln>
          <a:effectLst>
            <a:outerShdw blurRad="152400" dist="50800" dir="5400000" algn="bl" rotWithShape="0">
              <a:srgbClr val="00C8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Hình minh họa" descr="/tmp/nbimg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386" y="1856232"/>
            <a:ext cx="4855268" cy="2062353"/>
          </a:xfrm>
          <a:prstGeom prst="rect">
            <a:avLst/>
          </a:prstGeom>
        </p:spPr>
      </p:pic>
      <p:sp>
        <p:nvSpPr>
          <p:cNvPr id="7" name="Chú thích hình"/>
          <p:cNvSpPr txBox="1"/>
          <p:nvPr/>
        </p:nvSpPr>
        <p:spPr>
          <a:xfrm>
            <a:off x="568960" y="3859657"/>
            <a:ext cx="6080760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E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Hình 2.9: Biểu đồ Boxplot phân hóa mức giá nhà theo khu vực địa lý Neighborhood (sắp xếp theo Median)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6775704" y="1783080"/>
            <a:ext cx="4864608" cy="2670048"/>
          </a:xfrm>
          <a:prstGeom prst="roundRect">
            <a:avLst>
              <a:gd name="adj" fmla="val 4110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Nhãn"/>
          <p:cNvSpPr txBox="1"/>
          <p:nvPr/>
        </p:nvSpPr>
        <p:spPr>
          <a:xfrm>
            <a:off x="6940296" y="1865376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XÉT</a:t>
            </a:r>
            <a:endParaRPr lang="en-US" sz="1100" dirty="0"/>
          </a:p>
        </p:txBody>
      </p:sp>
      <p:sp>
        <p:nvSpPr>
          <p:cNvPr id="10" name="Nội dung"/>
          <p:cNvSpPr txBox="1"/>
          <p:nvPr/>
        </p:nvSpPr>
        <p:spPr>
          <a:xfrm>
            <a:off x="6877304" y="1953356"/>
            <a:ext cx="4408012" cy="1787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Khảo sát phân tầng giá theo khu vực.</a:t>
            </a:r>
            <a:endParaRPr lang="en-US" sz="15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Boxplot theo Median, chia rõ cao cấp, trung cấp, bình dân.</a:t>
            </a:r>
            <a:endParaRPr lang="en-US" sz="15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155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Neighborhood là yếu tố định tính quan trọng nhất.</a:t>
            </a:r>
            <a:endParaRPr lang="en-US" sz="1550" dirty="0"/>
          </a:p>
        </p:txBody>
      </p:sp>
      <p:sp>
        <p:nvSpPr>
          <p:cNvPr id="11" name="Card"/>
          <p:cNvSpPr/>
          <p:nvPr/>
        </p:nvSpPr>
        <p:spPr>
          <a:xfrm>
            <a:off x="548640" y="4599432"/>
            <a:ext cx="11091672" cy="1874520"/>
          </a:xfrm>
          <a:prstGeom prst="roundRect">
            <a:avLst>
              <a:gd name="adj" fmla="val 5854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ội dung"/>
          <p:cNvSpPr txBox="1"/>
          <p:nvPr/>
        </p:nvSpPr>
        <p:spPr>
          <a:xfrm>
            <a:off x="640080" y="4654296"/>
            <a:ext cx="10908792" cy="17647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Boxplot SalePrice theo Median từng Neighborhood cho thấy 3 phân khúc rõ rệt: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khúc cao cấp:</a:t>
            </a: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StoneBr, NridgHt, NoRidge, trung vị tiệm cận hoặc vượt $300,000.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khúc trung cấp:</a:t>
            </a: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Somerset, Veenker, Timber, CollgCr, từ $180,000 đến $240,000.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khúc bình dân:</a:t>
            </a: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MeadowV, IDOTRR, BrDale, trung vị dưới $100,000.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Neighborhood là đặc trưng định tính chi phối lớn nhất đến giá bất động sản tại Ames.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ung tiêu đề" descr="/tmp/deck/assets/title_fram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9692640" cy="1842357"/>
          </a:xfrm>
          <a:prstGeom prst="rect">
            <a:avLst/>
          </a:prstGeom>
        </p:spPr>
      </p:pic>
      <p:sp>
        <p:nvSpPr>
          <p:cNvPr id="3" name="Số slide"/>
          <p:cNvSpPr txBox="1"/>
          <p:nvPr/>
        </p:nvSpPr>
        <p:spPr>
          <a:xfrm>
            <a:off x="478333" y="581018"/>
            <a:ext cx="1453896" cy="1105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34</a:t>
            </a:r>
            <a:endParaRPr lang="en-US" sz="3200" dirty="0"/>
          </a:p>
        </p:txBody>
      </p:sp>
      <p:sp>
        <p:nvSpPr>
          <p:cNvPr id="4" name="Tiêu đề"/>
          <p:cNvSpPr txBox="1"/>
          <p:nvPr/>
        </p:nvSpPr>
        <p:spPr>
          <a:xfrm>
            <a:off x="2223008" y="691559"/>
            <a:ext cx="6784848" cy="92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dirty="0">
                <a:solidFill>
                  <a:srgbClr val="F4F9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Tổng kết kết quả phân tích khám phá dữ liệu (Lab03 EDA Summary)</a:t>
            </a:r>
            <a:endParaRPr lang="en-US" sz="2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72684" cy="4690872"/>
          </a:xfrm>
          <a:prstGeom prst="roundRect">
            <a:avLst>
              <a:gd name="adj" fmla="val 2339"/>
            </a:avLst>
          </a:prstGeom>
          <a:solidFill>
            <a:srgbClr val="071B4D">
              <a:alpha val="86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Nội dung"/>
          <p:cNvSpPr txBox="1"/>
          <p:nvPr/>
        </p:nvSpPr>
        <p:spPr>
          <a:xfrm>
            <a:off x="640080" y="1837944"/>
            <a:ext cx="5289804" cy="458114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Kích thước tập dữ liệu sạch: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1458 mẫu quan sát, 87 thuộc tính.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Biến mục tiêu: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Log1p(SalePrice) đạt chuẩn phân phối tiệm cận chuẩn (Skewness ~ 0.12).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Điểm ngoại lệ: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Đã loại bỏ các nhà có GrLivArea &gt; 4000 sq ft theo đúng paper Dean De Cock.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Xử lý khuyết thiếu: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Đã điền sạch 100% bằng chiến lược chuẩn nghiệp vụ bất động sản.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Đặc trưng quan trọng nhất: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TotalSF, OverallQual, GrLivArea, GarageCars, Neighborhood.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Hiện tượng đa cộng tuyến:</a:t>
            </a:r>
            <a:r>
              <a:rPr lang="en-US" sz="17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Đã phát hiện giữa (GarageCars - GarageArea) và (TotalBsmtSF - 1stFlrSF).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167628" y="1783080"/>
            <a:ext cx="5472684" cy="4690872"/>
          </a:xfrm>
          <a:prstGeom prst="roundRect">
            <a:avLst>
              <a:gd name="adj" fmla="val 2339"/>
            </a:avLst>
          </a:prstGeom>
          <a:solidFill>
            <a:srgbClr val="0A2A6E">
              <a:alpha val="78000"/>
            </a:srgbClr>
          </a:solidFill>
          <a:ln w="12700">
            <a:solidFill>
              <a:srgbClr val="35D6FF">
                <a:alpha val="65000"/>
              </a:srgbClr>
            </a:solidFill>
            <a:prstDash val="solid"/>
          </a:ln>
          <a:effectLst>
            <a:outerShdw blurRad="127000" dist="50800" dir="5400000" algn="bl" rotWithShape="0">
              <a:srgbClr val="00C8FF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Nhãn"/>
          <p:cNvSpPr txBox="1"/>
          <p:nvPr/>
        </p:nvSpPr>
        <p:spPr>
          <a:xfrm>
            <a:off x="6332220" y="2210816"/>
            <a:ext cx="5198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</a:t>
            </a:r>
            <a:r>
              <a:rPr lang="vi-VN" sz="1400" b="1" kern="0" spc="150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XÉT:</a:t>
            </a:r>
            <a:endParaRPr lang="en-US" sz="1400" dirty="0"/>
          </a:p>
        </p:txBody>
      </p:sp>
      <p:sp>
        <p:nvSpPr>
          <p:cNvPr id="9" name="Nội dung"/>
          <p:cNvSpPr txBox="1"/>
          <p:nvPr/>
        </p:nvSpPr>
        <p:spPr>
          <a:xfrm>
            <a:off x="6289548" y="1741950"/>
            <a:ext cx="5289804" cy="427024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đích: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Tổng hợp 6 kết quả cốt lõi của quy trình EDA.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Tác dụng: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Làm sạch 100% giá trị khuyết, Log1p(SalePrice) tiệm cận chuẩn (Skewness ~ 0.12), xử lý điểm đòn bẩy.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5D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giá:</a:t>
            </a:r>
            <a:r>
              <a:rPr lang="en-US" sz="2000" dirty="0">
                <a:solidFill>
                  <a:srgbClr val="F4F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Xác định nhóm đặc trưng quan trọng nhất và các cặp đa cộng tuyến, hoàn tất tiền xử lý.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hung tiêu đề chính" descr="/tmp/deck/assets/title_frame_main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685800"/>
            <a:ext cx="11247120" cy="2381855"/>
          </a:xfrm>
          <a:prstGeom prst="rect">
            <a:avLst/>
          </a:prstGeom>
        </p:spPr>
      </p:pic>
      <p:sp>
        <p:nvSpPr>
          <p:cNvPr id="4" name="Tiêu đề"/>
          <p:cNvSpPr txBox="1"/>
          <p:nvPr/>
        </p:nvSpPr>
        <p:spPr>
          <a:xfrm>
            <a:off x="2176948" y="965493"/>
            <a:ext cx="7807623" cy="2255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5200" dirty="0">
                <a:gradFill rotWithShape="1">
                  <a:gsLst>
                    <a:gs pos="0">
                      <a:srgbClr val="7CF3FF"/>
                    </a:gs>
                    <a:gs pos="45000">
                      <a:srgbClr val="FFFFFF"/>
                    </a:gs>
                    <a:gs pos="100000">
                      <a:srgbClr val="3D8BFF"/>
                    </a:gs>
                  </a:gsLst>
                  <a:lin ang="2700000" scaled="0"/>
                </a:gradFill>
                <a:effectLst>
                  <a:glow rad="76200">
                    <a:srgbClr val="35D6FF">
                      <a:alpha val="35000"/>
                    </a:srgbClr>
                  </a:glow>
                </a:effectLst>
                <a:latin typeface="Anton" pitchFamily="34" charset="0"/>
                <a:ea typeface="Anton" pitchFamily="34" charset="-122"/>
                <a:cs typeface="Anton" pitchFamily="34" charset="-120"/>
              </a:rPr>
              <a:t>CẢM ƠN THẦY CÔ VÀ CÁC BẠN</a:t>
            </a:r>
            <a:endParaRPr lang="en-US" sz="5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5200" dirty="0">
                <a:gradFill rotWithShape="1">
                  <a:gsLst>
                    <a:gs pos="0">
                      <a:srgbClr val="7CF3FF"/>
                    </a:gs>
                    <a:gs pos="45000">
                      <a:srgbClr val="FFFFFF"/>
                    </a:gs>
                    <a:gs pos="100000">
                      <a:srgbClr val="3D8BFF"/>
                    </a:gs>
                  </a:gsLst>
                  <a:lin ang="2700000" scaled="0"/>
                </a:gradFill>
                <a:effectLst>
                  <a:glow rad="76200">
                    <a:srgbClr val="35D6FF">
                      <a:alpha val="35000"/>
                    </a:srgbClr>
                  </a:glow>
                </a:effectLst>
                <a:latin typeface="Anton" pitchFamily="34" charset="0"/>
                <a:ea typeface="Anton" pitchFamily="34" charset="-122"/>
                <a:cs typeface="Anton" pitchFamily="34" charset="-120"/>
              </a:rPr>
              <a:t>ĐÃ LẮNG NGHE</a:t>
            </a:r>
            <a:endParaRPr lang="en-US" sz="5200" dirty="0"/>
          </a:p>
        </p:txBody>
      </p:sp>
      <p:pic>
        <p:nvPicPr>
          <p:cNvPr id="18" name="Minh họa nhóm sinh viên" descr="/tmp/deck/assets/element_students_housing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207" y="3383280"/>
            <a:ext cx="5669280" cy="3269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nt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5044</Words>
  <Application>Microsoft Office PowerPoint</Application>
  <PresentationFormat>Widescreen</PresentationFormat>
  <Paragraphs>514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Anton</vt:lpstr>
      <vt:lpstr>Arial</vt:lpstr>
      <vt:lpstr>Consolas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LAB03. PHÂN TÍCH KHÁM PHÁ DỮ LIỆU</dc:title>
  <dc:subject>PptxGenJS Presentation</dc:subject>
  <dc:creator>PptxGenJS</dc:creator>
  <cp:lastModifiedBy>Hoàng Anh Nguyễn</cp:lastModifiedBy>
  <cp:revision>15</cp:revision>
  <dcterms:created xsi:type="dcterms:W3CDTF">2026-10-03T10:02:41Z</dcterms:created>
  <dcterms:modified xsi:type="dcterms:W3CDTF">2026-10-03T11:33:37Z</dcterms:modified>
</cp:coreProperties>
</file>